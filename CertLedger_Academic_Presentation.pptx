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and examiners. Today I am presenting CertLedger, a decentralized, tamper-evident academic certificate verification system. Academic credential fraud is a multi-billion dollar worldwide challenge that harms universities and employers. Our system addresses this through a hybrid on-chain/off-chain architecture using Ethereum EVM smart contracts, Python FastAPI, ReportLab deterministic PDF generation, and a modern React dashboard. Crucially, our system achieves complete tamper-proofing while maintaining 100% Zero-PII compliance with privacy laws like GDPR and FERPA.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appreciate the need for CertLedger, we examine the four critical flaws in existing systems. First, fake degrees are everywhere due to photo editing tools. Second, background checks are painfully slow, taking weeks and costing tens of dollars per query. Third, many recent academic papers propose putting student records on Ethereum, but that is illegal under GDPR and FERPA because public blockchains cannot erase data. Fourth, traditional paper degrees cannot be dynamically revoked if an institution discovers academic misconduct post-graduation. CertLedger specifically solves all four problems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core value proposition of CertLedger. Instead of treating the blockchain as a database, we treat it as an immutable trust anchor. We combine four pillars: First, cryptographic integrity through SHA-256, where altering 1 byte causes a completely different hash. Second, Zero-PII privacy design, guaranteeing compliance with data protection laws. Third, 3-way instant verification that takes under two seconds without requiring verifiers to sign transactions or pay gas. Fourth, authorized on-chain revocation, giving universities the power to invalidate credentials if fraud is detected.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presents our architectural blueprint. We divide the system into three well-defined layers. Layer 1 is the modern React 18 user interface featuring dark/light aesthetic, instant drag-and-drop dropzones, and mobile QR landing. Layer 2 is our FastAPI backend in Python. It handles JWT authentication, generates high-resolution PDF diplomas using ReportLab, calculates the SHA-256 binary hash, and interfaces with Web3.py. Layer 3 is the on-chain Ethereum EVM smart contract. Notice how clean the contract is: it holds no names, no roll numbers, and no grades. It stores only the 32-byte hash, the issuer wallet address, the timestamp, and a revocation flag.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5, we look at the smart contract engineering in Solidity 0.8.20. The contract is called AcademicCertificateRegistry. Notice the access control: only the contract owner can authorize an issuer, only an authorized issuer can issue certificates, and critically, only the original issuing institution wallet can revoke that specific diploma. We also implemented custom errors like UnauthorizedIssuer and CertificateAlreadyExists. In modern Solidity, custom errors save substantial gas compared to verbose revert strings. Finally, verifyCertificate is declared as external view, meaning employers can verify certificates infinitely without paying a single wei of gas or signing any MetaMask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explains our cryptographic tamper detection engine. We rely on the SHA-256 cryptographic hash function, which exhibits the cryptographic avalanche effect. As demonstrated in our empirical testing shown on the right: When an authentic diploma is checked, its binary hash exactly matches the on-chain digest, returning VALID. However, if an attacker alters even 10 bytes—such as editing 'Grade A' to 'Grade A+'—the SHA-256 hash completely changes to an entirely different string. When compared to the immutable blockchain ledger, the hash mismatch is instantly caught, returning TAMPERED. This completely eliminates Photoshop and PDF editor forgery.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covers a common exam trap and major research distinction: privacy and regulatory compliance. Many projects naively store student details in smart contracts. In the real world, this is illegal. Under GDPR Article 17, students have the Right to be Forgotten. If data is in an immutable block, it cannot be deleted. CertLedger solves this: student names and grades live solely in our off-chain database and on the student's physical/digital diploma. The blockchain holds only the one-way 32-byte SHA-256 hash. If a student requests erasure, we purge their off-chain record. The on-chain hash becomes an un-linkable orphan string, fully complying with both GDPR and FERPA regulations.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illustrates the end-to-end issuance lifecycle. The workflow has five distinct stages. First, the registrar logs in. Second, student metadata is submitted. Third, our ReportLab engine programmatically constructs a high-resolution vector PDF diploma, embedding university seals and a QR code. Fourth, the complete PDF binary is hashed into a 32-byte SHA-256 digest. Fifth, the university's Web3 wallet signs and broadcasts issueCertificate to the blockchain. The smart contract enforces that the certificate ID has not been used before, stores the hash and block timestamp, and emits the CertificateIssued event for indexing.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demonstrates our three zero-trust verification modalities. First, the PDF dropzone. A recruiter doesn't need to believe what the student claimed on their resume. They drop the PDF into the portal, the hash is computed locally in the client/backend, and compared to the blockchain. Second, direct ID search, querying the smart contract view function directly. Third, mobile QR scanning. Every PDF has a dynamic QR code that opens our direct verification route, giving employers an instant audit report on their phone in two seconds with zero software installation.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highlights revocation, an area where standard paper and PDF systems completely fail. If a university revokes a degree due to fraud, an alumnus can still show their printed paper diploma to an unsuspecting employer. In CertLedger, the issuing university calls revokeCertificate on the smart contract. Our contract strictly verifies that the caller address matches the original issuer address. Once mined, the revocation flag is permanent on-chain. Whenever anyone checks that diploma in the future, the system immediately returns a bright red REVOKED banner.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summarizes our complete technology stack matrix. We selected each component for performance, security, and production readiness. On the blockchain side, we use Solidity 0.8.20 with Hardhat and OpenZeppelin v5. On the backend, Python FastAPI provides asynchronous high throughput, ReportLab provides deterministic vector PDF generation, and Web3.py interacts with the EVM. On the frontend, React 18 with Vite and Tailwind CSS offers a lightning-fast user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presents our quality assurance and testing results. We have achieved 100% automated test coverage across all layers. Our smart contract suite has 17 out of 17 tests passing in Mocha and Chai. Our backend API has 12 out of 12 tests passing in Pytest. Furthermore, we built an end-to-end automated testing script called e2e_demo.py. It autonomously tests the entire 11-stage lifecycle against the live blockchain: from login and issuance, to hash matching, live tampering injection, on-chain revocation, and transaction block receipts. Everything executes without manual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provides a comprehensive comparative evaluation matrix. Examiners frequently ask: 'Why not just use an SQL database with digital signatures?' As shown in column 3, a centralized database has a single point of failure and suffers from insider threats; a rogue database administrator can alter records or delete logs. On the other hand, naive blockchain projects (column 4) violate GDPR by placing student identities permanently on-chain. CertLedger (column 5) combines the best of all worlds: decentralized immutability, sub-two-second verification, zero gas cost for verifiers, and absolute privacy protection.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addresses gas economics and production scalability. In our smart contract, issuing a certificate consumes approximately 85,000 gas. On Ethereum L1, gas volatility makes single minting expensive. However, because our contract is standard EVM bytecode, it deploys seamlessly to Layer-2 networks like Polygon, Arbitrum, or Base, dropping issuance costs to less than a single penny. For massive graduating classes of ten thousand students, we can implement Merkle Tree batch minting: the university commits just one 32-byte Merkle Root to the blockchain, enabling all 10,000 certificates to be verified via cryptographic Merkle proofs for the cost of a single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presents our future innovation roadmap. There are four exciting directions for future research: First, Soulbound Tokens (ERC-5192) to lock credentials into student web3 wallets. Second, W3C Verifiable Credentials and DIDs for international standard compliance. Third, decentralized storage using IPFS and Filecoin. And fourth, Zero-Knowledge Proofs (zk-SNARKs), allowing students to selectively prove qualifications—such as demonstrating they graduated with first class honors—without showing their entire transcript.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CertLedger successfully demonstrates how blockchain technology and cryptographic hashing can be applied to solve the real-world diploma fraud crisis while respecting strict privacy regulations. We have validated every single function through unit tests, integration tests, and an 11-stage automated E2E demonstration. Thank you for your time and attention. I am now pleased to invite your questions and begin the technical defense.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37160" cy="34747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645920"/>
            <a:ext cx="2926080" cy="36576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93C5FD"/>
                </a:solidFill>
              </a:defRPr>
            </a:pPr>
            <a:r>
              <a:t>DECENTRALIZED CREDENTIAL SYSTEM</a:t>
            </a:r>
          </a:p>
        </p:txBody>
      </p:sp>
      <p:sp>
        <p:nvSpPr>
          <p:cNvPr id="5" name="TextBox 4"/>
          <p:cNvSpPr txBox="1"/>
          <p:nvPr/>
        </p:nvSpPr>
        <p:spPr>
          <a:xfrm>
            <a:off x="1097280" y="2148840"/>
            <a:ext cx="10058400" cy="2011680"/>
          </a:xfrm>
          <a:prstGeom prst="rect">
            <a:avLst/>
          </a:prstGeom>
          <a:noFill/>
        </p:spPr>
        <p:txBody>
          <a:bodyPr wrap="square" lIns="0" tIns="0" rIns="0" bIns="0">
            <a:spAutoFit/>
          </a:bodyPr>
          <a:lstStyle/>
          <a:p>
            <a:pPr>
              <a:defRPr sz="4000" b="1">
                <a:solidFill>
                  <a:srgbClr val="FFFFFF"/>
                </a:solidFill>
              </a:defRPr>
            </a:pPr>
            <a:r>
              <a:t>CertLedger</a:t>
            </a:r>
          </a:p>
          <a:p>
            <a:pPr>
              <a:defRPr sz="2200" b="1">
                <a:solidFill>
                  <a:srgbClr val="60A5FA"/>
                </a:solidFill>
              </a:defRPr>
            </a:pPr>
            <a:r>
              <a:t>Blockchain-Based Academic Certificate Verification System</a:t>
            </a:r>
          </a:p>
          <a:p>
            <a:pPr>
              <a:spcBef>
                <a:spcPts val="800"/>
              </a:spcBef>
              <a:defRPr sz="1300">
                <a:solidFill>
                  <a:srgbClr val="94A3B8"/>
                </a:solidFill>
              </a:defRPr>
            </a:pPr>
            <a:r>
              <a:t>A Tamper-Evident Hybrid Platform Combining Ethereum Smart Contracts, Deterministic SHA-256 Fingerprinting &amp; Zero-PII Architecture</a:t>
            </a:r>
          </a:p>
        </p:txBody>
      </p:sp>
      <p:sp>
        <p:nvSpPr>
          <p:cNvPr id="6" name="Rounded Rectangle 5"/>
          <p:cNvSpPr/>
          <p:nvPr/>
        </p:nvSpPr>
        <p:spPr>
          <a:xfrm>
            <a:off x="1097280" y="4389120"/>
            <a:ext cx="3328416"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300" b="1">
                <a:solidFill>
                  <a:srgbClr val="FFFFFF"/>
                </a:solidFill>
              </a:defRPr>
            </a:pPr>
            <a:r>
              <a:t>⛓️ Hybrid On-Chain Design</a:t>
            </a:r>
          </a:p>
          <a:p>
            <a:pPr>
              <a:spcBef>
                <a:spcPts val="400"/>
              </a:spcBef>
              <a:defRPr sz="1050">
                <a:solidFill>
                  <a:srgbClr val="CBD5E1"/>
                </a:solidFill>
              </a:defRPr>
            </a:pPr>
            <a:r>
              <a:t>Solidity Smart Contract on Ethereum EVM anchors cryptographic digests with zero student PII on public ledgers.</a:t>
            </a:r>
          </a:p>
        </p:txBody>
      </p:sp>
      <p:sp>
        <p:nvSpPr>
          <p:cNvPr id="7" name="Rounded Rectangle 6"/>
          <p:cNvSpPr/>
          <p:nvPr/>
        </p:nvSpPr>
        <p:spPr>
          <a:xfrm>
            <a:off x="4608576" y="4389120"/>
            <a:ext cx="3328416"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300" b="1">
                <a:solidFill>
                  <a:srgbClr val="FFFFFF"/>
                </a:solidFill>
              </a:defRPr>
            </a:pPr>
            <a:r>
              <a:t>🛡️ Cryptographic Integrity</a:t>
            </a:r>
          </a:p>
          <a:p>
            <a:pPr>
              <a:spcBef>
                <a:spcPts val="400"/>
              </a:spcBef>
              <a:defRPr sz="1050">
                <a:solidFill>
                  <a:srgbClr val="CBD5E1"/>
                </a:solidFill>
              </a:defRPr>
            </a:pPr>
            <a:r>
              <a:t>SHA-256 avalanche effect guarantees single-byte tamper detection. Instant zero-gas public verification in &lt;2 seconds.</a:t>
            </a:r>
          </a:p>
        </p:txBody>
      </p:sp>
      <p:sp>
        <p:nvSpPr>
          <p:cNvPr id="8" name="Rounded Rectangle 7"/>
          <p:cNvSpPr/>
          <p:nvPr/>
        </p:nvSpPr>
        <p:spPr>
          <a:xfrm>
            <a:off x="8119872" y="4389120"/>
            <a:ext cx="3328416"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300" b="1">
                <a:solidFill>
                  <a:srgbClr val="FFFFFF"/>
                </a:solidFill>
              </a:defRPr>
            </a:pPr>
            <a:r>
              <a:t>🚀 Production Tech Stack</a:t>
            </a:r>
          </a:p>
          <a:p>
            <a:pPr>
              <a:spcBef>
                <a:spcPts val="400"/>
              </a:spcBef>
              <a:defRPr sz="1050">
                <a:solidFill>
                  <a:srgbClr val="CBD5E1"/>
                </a:solidFill>
              </a:defRPr>
            </a:pPr>
            <a:r>
              <a:t>Solidity ^0.8.20, Hardhat, FastAPI, ReportLab Vector Engine, Web3.py, React 18 &amp; Tailwind CSS.</a:t>
            </a:r>
          </a:p>
        </p:txBody>
      </p:sp>
      <p:sp>
        <p:nvSpPr>
          <p:cNvPr id="9" name="TextBox 8"/>
          <p:cNvSpPr txBox="1"/>
          <p:nvPr/>
        </p:nvSpPr>
        <p:spPr>
          <a:xfrm>
            <a:off x="1097280" y="6217920"/>
            <a:ext cx="10058400" cy="365760"/>
          </a:xfrm>
          <a:prstGeom prst="rect">
            <a:avLst/>
          </a:prstGeom>
          <a:noFill/>
        </p:spPr>
        <p:txBody>
          <a:bodyPr wrap="none" lIns="0" tIns="0" rIns="0" bIns="0">
            <a:spAutoFit/>
          </a:bodyPr>
          <a:lstStyle/>
          <a:p>
            <a:pPr>
              <a:defRPr sz="1100">
                <a:solidFill>
                  <a:srgbClr val="94A3B8"/>
                </a:solidFill>
              </a:defRPr>
            </a:pPr>
            <a:r>
              <a:t>Academic Capstone Project • Final Technical Defense &amp; System Demonstration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ACADEMIC PROJECT DEFENSE • BLOCKCHAIN VERIFICATION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The Problem: Flaws in Modern Academic Credential Verification</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75504"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EF4444"/>
                </a:solidFill>
              </a:defRPr>
            </a:pPr>
            <a:r>
              <a:t>❌ 1. Credential Forgery &amp; Degree Mills</a:t>
            </a:r>
          </a:p>
          <a:p>
            <a:pPr>
              <a:spcBef>
                <a:spcPts val="400"/>
              </a:spcBef>
              <a:defRPr sz="1100">
                <a:solidFill>
                  <a:srgbClr val="334155"/>
                </a:solidFill>
              </a:defRPr>
            </a:pPr>
            <a:r>
              <a:t>• Millions of counterfeit degrees and altered transcripts circulate globally.</a:t>
            </a:r>
          </a:p>
          <a:p>
            <a:pPr>
              <a:spcBef>
                <a:spcPts val="400"/>
              </a:spcBef>
              <a:defRPr sz="1100">
                <a:solidFill>
                  <a:srgbClr val="334155"/>
                </a:solidFill>
              </a:defRPr>
            </a:pPr>
            <a:r>
              <a:t>• High-resolution digital graphics tools (Photoshop) enable undetectable paper &amp; PDF forgery.</a:t>
            </a:r>
          </a:p>
          <a:p>
            <a:pPr>
              <a:spcBef>
                <a:spcPts val="400"/>
              </a:spcBef>
              <a:defRPr sz="1100">
                <a:solidFill>
                  <a:srgbClr val="334155"/>
                </a:solidFill>
              </a:defRPr>
            </a:pPr>
            <a:r>
              <a:t>• Damages the academic reputation of accredited institutions and misleads employers.</a:t>
            </a:r>
          </a:p>
        </p:txBody>
      </p:sp>
      <p:sp>
        <p:nvSpPr>
          <p:cNvPr id="7" name="Rounded Rectangle 6"/>
          <p:cNvSpPr/>
          <p:nvPr/>
        </p:nvSpPr>
        <p:spPr>
          <a:xfrm>
            <a:off x="6272784" y="1554480"/>
            <a:ext cx="5175504"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F59E0B"/>
                </a:solidFill>
              </a:defRPr>
            </a:pPr>
            <a:r>
              <a:t>⏳ 2. Slow, Costly Manual Background Checks</a:t>
            </a:r>
          </a:p>
          <a:p>
            <a:pPr>
              <a:spcBef>
                <a:spcPts val="400"/>
              </a:spcBef>
              <a:defRPr sz="1100">
                <a:solidFill>
                  <a:srgbClr val="334155"/>
                </a:solidFill>
              </a:defRPr>
            </a:pPr>
            <a:r>
              <a:t>• Traditional verification takes 2 to 4 weeks via phone calls, postal mail, and emails.</a:t>
            </a:r>
          </a:p>
          <a:p>
            <a:pPr>
              <a:spcBef>
                <a:spcPts val="400"/>
              </a:spcBef>
              <a:defRPr sz="1100">
                <a:solidFill>
                  <a:srgbClr val="334155"/>
                </a:solidFill>
              </a:defRPr>
            </a:pPr>
            <a:r>
              <a:t>• Commercial clearinghouses charge steep administrative fees ($15 - $50 per lookup).</a:t>
            </a:r>
          </a:p>
          <a:p>
            <a:pPr>
              <a:spcBef>
                <a:spcPts val="400"/>
              </a:spcBef>
              <a:defRPr sz="1100">
                <a:solidFill>
                  <a:srgbClr val="334155"/>
                </a:solidFill>
              </a:defRPr>
            </a:pPr>
            <a:r>
              <a:t>• Imposes heavy administrative bottlenecks on university registrar departments.</a:t>
            </a:r>
          </a:p>
        </p:txBody>
      </p:sp>
      <p:sp>
        <p:nvSpPr>
          <p:cNvPr id="8" name="Rounded Rectangle 7"/>
          <p:cNvSpPr/>
          <p:nvPr/>
        </p:nvSpPr>
        <p:spPr>
          <a:xfrm>
            <a:off x="731520" y="3977639"/>
            <a:ext cx="5175504"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2563EB"/>
                </a:solidFill>
              </a:defRPr>
            </a:pPr>
            <a:r>
              <a:t>🔒 3. The Public Blockchain Privacy Dilemma</a:t>
            </a:r>
          </a:p>
          <a:p>
            <a:pPr>
              <a:spcBef>
                <a:spcPts val="400"/>
              </a:spcBef>
              <a:defRPr sz="1100">
                <a:solidFill>
                  <a:srgbClr val="334155"/>
                </a:solidFill>
              </a:defRPr>
            </a:pPr>
            <a:r>
              <a:t>• Naive blockchain solutions store student names, grades, and IDs directly on-chain.</a:t>
            </a:r>
          </a:p>
          <a:p>
            <a:pPr>
              <a:spcBef>
                <a:spcPts val="400"/>
              </a:spcBef>
              <a:defRPr sz="1100">
                <a:solidFill>
                  <a:srgbClr val="334155"/>
                </a:solidFill>
              </a:defRPr>
            </a:pPr>
            <a:r>
              <a:t>• Public ledgers are immutable, directly violating GDPR Article 17 ('Right to Erasure').</a:t>
            </a:r>
          </a:p>
          <a:p>
            <a:pPr>
              <a:spcBef>
                <a:spcPts val="400"/>
              </a:spcBef>
              <a:defRPr sz="1100">
                <a:solidFill>
                  <a:srgbClr val="334155"/>
                </a:solidFill>
              </a:defRPr>
            </a:pPr>
            <a:r>
              <a:t>• Permanent exposure of educational records violates FERPA student privacy regulations.</a:t>
            </a:r>
          </a:p>
        </p:txBody>
      </p:sp>
      <p:sp>
        <p:nvSpPr>
          <p:cNvPr id="9" name="Rounded Rectangle 8"/>
          <p:cNvSpPr/>
          <p:nvPr/>
        </p:nvSpPr>
        <p:spPr>
          <a:xfrm>
            <a:off x="6272784" y="3977639"/>
            <a:ext cx="5175504"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EF4444"/>
                </a:solidFill>
              </a:defRPr>
            </a:pPr>
            <a:r>
              <a:t>🚫 4. Permanent Fraud After Issuance (No Revocation)</a:t>
            </a:r>
          </a:p>
          <a:p>
            <a:pPr>
              <a:spcBef>
                <a:spcPts val="400"/>
              </a:spcBef>
              <a:defRPr sz="1100">
                <a:solidFill>
                  <a:srgbClr val="334155"/>
                </a:solidFill>
              </a:defRPr>
            </a:pPr>
            <a:r>
              <a:t>• Once a physical diploma or static PDF is handed to a graduate, it cannot be recalled.</a:t>
            </a:r>
          </a:p>
          <a:p>
            <a:pPr>
              <a:spcBef>
                <a:spcPts val="400"/>
              </a:spcBef>
              <a:defRPr sz="1100">
                <a:solidFill>
                  <a:srgbClr val="334155"/>
                </a:solidFill>
              </a:defRPr>
            </a:pPr>
            <a:r>
              <a:t>• If degrees are later revoked due to plagiarism, fraud, or error, the revoked diploma still circulates.</a:t>
            </a:r>
          </a:p>
          <a:p>
            <a:pPr>
              <a:spcBef>
                <a:spcPts val="400"/>
              </a:spcBef>
              <a:defRPr sz="1100">
                <a:solidFill>
                  <a:srgbClr val="334155"/>
                </a:solidFill>
              </a:defRPr>
            </a:pPr>
            <a:r>
              <a:t>• No decentralized registry exists where verifiers can query real-time validity status.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ACADEMIC PROJECT DEFENSE • BLOCKCHAIN VERIFICATION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The CertLedger Solution: Hybrid Architecture &amp; Zero-PII Trust</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10728655" cy="10515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74320" rIns="274320" tIns="164592"/>
          <a:lstStyle/>
          <a:p>
            <a:pPr algn="ctr">
              <a:defRPr sz="1300" b="1">
                <a:solidFill>
                  <a:srgbClr val="2563EB"/>
                </a:solidFill>
              </a:defRPr>
            </a:pPr>
            <a:r>
              <a:t>💡 Core Paradigm: Decentralized Cryptographic Fingerprinting</a:t>
            </a:r>
          </a:p>
          <a:p>
            <a:pPr>
              <a:spcBef>
                <a:spcPts val="400"/>
              </a:spcBef>
              <a:defRPr sz="1100">
                <a:solidFill>
                  <a:srgbClr val="334155"/>
                </a:solidFill>
              </a:defRPr>
            </a:pPr>
            <a:r>
              <a:t>CertLedger anchors degrees to an Ethereum EVM smart contract by storing ONLY a 32-byte SHA-256 cryptographic digest of the canonical PDF, the verified university wallet address, block timestamp, and a revocation flag. Student PII remains 100% off-chain.</a:t>
            </a:r>
          </a:p>
        </p:txBody>
      </p:sp>
      <p:sp>
        <p:nvSpPr>
          <p:cNvPr id="7" name="Rounded Rectangle 6"/>
          <p:cNvSpPr/>
          <p:nvPr/>
        </p:nvSpPr>
        <p:spPr>
          <a:xfrm>
            <a:off x="731520" y="2788920"/>
            <a:ext cx="2542032"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a:lstStyle/>
          <a:p>
            <a:pPr algn="ctr">
              <a:defRPr sz="1300" b="1">
                <a:solidFill>
                  <a:srgbClr val="10B981"/>
                </a:solidFill>
              </a:defRPr>
            </a:pPr>
            <a:r>
              <a:t>🔐 Cryptographic Integrity</a:t>
            </a:r>
          </a:p>
          <a:p>
            <a:pPr>
              <a:spcBef>
                <a:spcPts val="200"/>
              </a:spcBef>
              <a:defRPr sz="1000" b="1">
                <a:solidFill>
                  <a:srgbClr val="64748B"/>
                </a:solidFill>
              </a:defRPr>
            </a:pPr>
            <a:r>
              <a:t>SHA-256 Avalanche Effect</a:t>
            </a:r>
          </a:p>
          <a:p>
            <a:pPr>
              <a:spcBef>
                <a:spcPts val="800"/>
              </a:spcBef>
              <a:defRPr sz="1050">
                <a:solidFill>
                  <a:srgbClr val="334155"/>
                </a:solidFill>
              </a:defRPr>
            </a:pPr>
            <a:r>
              <a:t>Modifying even a single character or pixel in the PDF changes the entire hash digest, immediately triggering an INVALID verdict on-chain.</a:t>
            </a:r>
          </a:p>
        </p:txBody>
      </p:sp>
      <p:sp>
        <p:nvSpPr>
          <p:cNvPr id="8" name="Rounded Rectangle 7"/>
          <p:cNvSpPr/>
          <p:nvPr/>
        </p:nvSpPr>
        <p:spPr>
          <a:xfrm>
            <a:off x="3456432" y="2788920"/>
            <a:ext cx="2542032"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a:lstStyle/>
          <a:p>
            <a:pPr algn="ctr">
              <a:defRPr sz="1300" b="1">
                <a:solidFill>
                  <a:srgbClr val="2563EB"/>
                </a:solidFill>
              </a:defRPr>
            </a:pPr>
            <a:r>
              <a:t>🛡️ Zero-PII Privacy by Design</a:t>
            </a:r>
          </a:p>
          <a:p>
            <a:pPr>
              <a:spcBef>
                <a:spcPts val="200"/>
              </a:spcBef>
              <a:defRPr sz="1000" b="1">
                <a:solidFill>
                  <a:srgbClr val="64748B"/>
                </a:solidFill>
              </a:defRPr>
            </a:pPr>
            <a:r>
              <a:t>GDPR &amp; FERPA Compliant</a:t>
            </a:r>
          </a:p>
          <a:p>
            <a:pPr>
              <a:spcBef>
                <a:spcPts val="800"/>
              </a:spcBef>
              <a:defRPr sz="1050">
                <a:solidFill>
                  <a:srgbClr val="334155"/>
                </a:solidFill>
              </a:defRPr>
            </a:pPr>
            <a:r>
              <a:t>Zero student names, roll numbers, or GPA records are stored on the blockchain ledger. Observers see only a one-way hexadecimal hash.</a:t>
            </a:r>
          </a:p>
        </p:txBody>
      </p:sp>
      <p:sp>
        <p:nvSpPr>
          <p:cNvPr id="9" name="Rounded Rectangle 8"/>
          <p:cNvSpPr/>
          <p:nvPr/>
        </p:nvSpPr>
        <p:spPr>
          <a:xfrm>
            <a:off x="6181344" y="2788920"/>
            <a:ext cx="2542032"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a:lstStyle/>
          <a:p>
            <a:pPr algn="ctr">
              <a:defRPr sz="1300" b="1">
                <a:solidFill>
                  <a:srgbClr val="4F46E5"/>
                </a:solidFill>
              </a:defRPr>
            </a:pPr>
            <a:r>
              <a:t>⚡ 3-Way Instant Verification</a:t>
            </a:r>
          </a:p>
          <a:p>
            <a:pPr>
              <a:spcBef>
                <a:spcPts val="200"/>
              </a:spcBef>
              <a:defRPr sz="1000" b="1">
                <a:solidFill>
                  <a:srgbClr val="64748B"/>
                </a:solidFill>
              </a:defRPr>
            </a:pPr>
            <a:r>
              <a:t>&lt; 2-Second Turnaround</a:t>
            </a:r>
          </a:p>
          <a:p>
            <a:pPr>
              <a:spcBef>
                <a:spcPts val="800"/>
              </a:spcBef>
              <a:defRPr sz="1050">
                <a:solidFill>
                  <a:srgbClr val="334155"/>
                </a:solidFill>
              </a:defRPr>
            </a:pPr>
            <a:r>
              <a:t>Verifiers can authoritatively check credentials via direct PDF drag-and-drop, Certificate ID lookup, or scanning the embedded dynamic QR code.</a:t>
            </a:r>
          </a:p>
        </p:txBody>
      </p:sp>
      <p:sp>
        <p:nvSpPr>
          <p:cNvPr id="10" name="Rounded Rectangle 9"/>
          <p:cNvSpPr/>
          <p:nvPr/>
        </p:nvSpPr>
        <p:spPr>
          <a:xfrm>
            <a:off x="8906256" y="2788920"/>
            <a:ext cx="2542032"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a:lstStyle/>
          <a:p>
            <a:pPr algn="ctr">
              <a:defRPr sz="1300" b="1">
                <a:solidFill>
                  <a:srgbClr val="EF4444"/>
                </a:solidFill>
              </a:defRPr>
            </a:pPr>
            <a:r>
              <a:t>🔄 Dynamic On-Chain Revocation</a:t>
            </a:r>
          </a:p>
          <a:p>
            <a:pPr>
              <a:spcBef>
                <a:spcPts val="200"/>
              </a:spcBef>
              <a:defRPr sz="1000" b="1">
                <a:solidFill>
                  <a:srgbClr val="64748B"/>
                </a:solidFill>
              </a:defRPr>
            </a:pPr>
            <a:r>
              <a:t>Authorized Issuer Control</a:t>
            </a:r>
          </a:p>
          <a:p>
            <a:pPr>
              <a:spcBef>
                <a:spcPts val="800"/>
              </a:spcBef>
              <a:defRPr sz="1050">
                <a:solidFill>
                  <a:srgbClr val="334155"/>
                </a:solidFill>
              </a:defRPr>
            </a:pPr>
            <a:r>
              <a:t>Universities can revoke fraudulent or errant diplomas on-chain. Verifiers are immediately alerted globally with zero delay.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ACADEMIC PROJECT DEFENSE • BLOCKCHAIN VERIFICATION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System Architecture: Hybrid On-Chain / Off-Chain Architecture</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3401568"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2563EB"/>
                </a:solidFill>
              </a:defRPr>
            </a:pPr>
            <a:r>
              <a:t>1. PRESENTATION LAYER</a:t>
            </a:r>
          </a:p>
          <a:p>
            <a:pPr>
              <a:spcBef>
                <a:spcPts val="200"/>
              </a:spcBef>
              <a:defRPr sz="1100">
                <a:solidFill>
                  <a:srgbClr val="64748B"/>
                </a:solidFill>
              </a:defRPr>
            </a:pPr>
            <a:r>
              <a:t>React 18 + Vite + Tailwind CSS</a:t>
            </a:r>
          </a:p>
          <a:p>
            <a:pPr>
              <a:spcBef>
                <a:spcPts val="800"/>
              </a:spcBef>
              <a:defRPr sz="1100" b="1">
                <a:solidFill>
                  <a:srgbClr val="0F172A"/>
                </a:solidFill>
              </a:defRPr>
            </a:pPr>
            <a:r>
              <a:t>• Registrar Dashboard</a:t>
            </a:r>
          </a:p>
          <a:p>
            <a:pPr>
              <a:defRPr sz="1000">
                <a:solidFill>
                  <a:srgbClr val="334155"/>
                </a:solidFill>
              </a:defRPr>
            </a:pPr>
            <a:r>
              <a:t>   Role-protected portal for university admins to issue &amp; revoke diplomas.</a:t>
            </a:r>
          </a:p>
          <a:p>
            <a:pPr>
              <a:spcBef>
                <a:spcPts val="800"/>
              </a:spcBef>
              <a:defRPr sz="1100" b="1">
                <a:solidFill>
                  <a:srgbClr val="0F172A"/>
                </a:solidFill>
              </a:defRPr>
            </a:pPr>
            <a:r>
              <a:t>• Drag-and-Drop Dropzone</a:t>
            </a:r>
          </a:p>
          <a:p>
            <a:pPr>
              <a:defRPr sz="1000">
                <a:solidFill>
                  <a:srgbClr val="334155"/>
                </a:solidFill>
              </a:defRPr>
            </a:pPr>
            <a:r>
              <a:t>   Client-side candidate PDF file dropzone for instant zero-trust verification.</a:t>
            </a:r>
          </a:p>
          <a:p>
            <a:pPr>
              <a:spcBef>
                <a:spcPts val="800"/>
              </a:spcBef>
              <a:defRPr sz="1100" b="1">
                <a:solidFill>
                  <a:srgbClr val="0F172A"/>
                </a:solidFill>
              </a:defRPr>
            </a:pPr>
            <a:r>
              <a:t>• Dynamic QR Scanner</a:t>
            </a:r>
          </a:p>
          <a:p>
            <a:pPr>
              <a:defRPr sz="1000">
                <a:solidFill>
                  <a:srgbClr val="334155"/>
                </a:solidFill>
              </a:defRPr>
            </a:pPr>
            <a:r>
              <a:t>   Instant mobile redirection to authoritative verification audit reports.</a:t>
            </a:r>
          </a:p>
          <a:p>
            <a:pPr>
              <a:spcBef>
                <a:spcPts val="800"/>
              </a:spcBef>
              <a:defRPr sz="1100" b="1">
                <a:solidFill>
                  <a:srgbClr val="0F172A"/>
                </a:solidFill>
              </a:defRPr>
            </a:pPr>
            <a:r>
              <a:t>• Tamper Demonstration</a:t>
            </a:r>
          </a:p>
          <a:p>
            <a:pPr>
              <a:defRPr sz="1000">
                <a:solidFill>
                  <a:srgbClr val="334155"/>
                </a:solidFill>
              </a:defRPr>
            </a:pPr>
            <a:r>
              <a:t>   Interactive laboratory tool showing live hash discrepancies.</a:t>
            </a:r>
          </a:p>
          <a:p>
            <a:pPr>
              <a:spcBef>
                <a:spcPts val="800"/>
              </a:spcBef>
              <a:defRPr sz="1100" b="1">
                <a:solidFill>
                  <a:srgbClr val="0F172A"/>
                </a:solidFill>
              </a:defRPr>
            </a:pPr>
            <a:r>
              <a:t>• Responsive UX</a:t>
            </a:r>
          </a:p>
          <a:p>
            <a:pPr>
              <a:defRPr sz="1000">
                <a:solidFill>
                  <a:srgbClr val="334155"/>
                </a:solidFill>
              </a:defRPr>
            </a:pPr>
            <a:r>
              <a:t>   Designed with Lucide icons, glassmorphism, and instant toast notifications.</a:t>
            </a:r>
          </a:p>
        </p:txBody>
      </p:sp>
      <p:sp>
        <p:nvSpPr>
          <p:cNvPr id="7" name="Rounded Rectangle 6"/>
          <p:cNvSpPr/>
          <p:nvPr/>
        </p:nvSpPr>
        <p:spPr>
          <a:xfrm>
            <a:off x="4389120" y="1508760"/>
            <a:ext cx="3401568"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4F46E5"/>
                </a:solidFill>
              </a:defRPr>
            </a:pPr>
            <a:r>
              <a:t>2. APPLICATION &amp; ENGINE</a:t>
            </a:r>
          </a:p>
          <a:p>
            <a:pPr>
              <a:spcBef>
                <a:spcPts val="200"/>
              </a:spcBef>
              <a:defRPr sz="1100">
                <a:solidFill>
                  <a:srgbClr val="64748B"/>
                </a:solidFill>
              </a:defRPr>
            </a:pPr>
            <a:r>
              <a:t>Python 3.10+ FastAPI &amp; ReportLab</a:t>
            </a:r>
          </a:p>
          <a:p>
            <a:pPr>
              <a:spcBef>
                <a:spcPts val="800"/>
              </a:spcBef>
              <a:defRPr sz="1100" b="1">
                <a:solidFill>
                  <a:srgbClr val="0F172A"/>
                </a:solidFill>
              </a:defRPr>
            </a:pPr>
            <a:r>
              <a:t>• REST API Gateway</a:t>
            </a:r>
          </a:p>
          <a:p>
            <a:pPr>
              <a:defRPr sz="1000">
                <a:solidFill>
                  <a:srgbClr val="334155"/>
                </a:solidFill>
              </a:defRPr>
            </a:pPr>
            <a:r>
              <a:t>   High-performance async FastAPI backend with OpenAPI Swagger docs.</a:t>
            </a:r>
          </a:p>
          <a:p>
            <a:pPr>
              <a:spcBef>
                <a:spcPts val="800"/>
              </a:spcBef>
              <a:defRPr sz="1100" b="1">
                <a:solidFill>
                  <a:srgbClr val="0F172A"/>
                </a:solidFill>
              </a:defRPr>
            </a:pPr>
            <a:r>
              <a:t>• Deterministic PDF Engine</a:t>
            </a:r>
          </a:p>
          <a:p>
            <a:pPr>
              <a:defRPr sz="1000">
                <a:solidFill>
                  <a:srgbClr val="334155"/>
                </a:solidFill>
              </a:defRPr>
            </a:pPr>
            <a:r>
              <a:t>   ReportLab vector generator rendering borders, seals, and QR codes.</a:t>
            </a:r>
          </a:p>
          <a:p>
            <a:pPr>
              <a:spcBef>
                <a:spcPts val="800"/>
              </a:spcBef>
              <a:defRPr sz="1100" b="1">
                <a:solidFill>
                  <a:srgbClr val="0F172A"/>
                </a:solidFill>
              </a:defRPr>
            </a:pPr>
            <a:r>
              <a:t>• Cryptographic Hasher</a:t>
            </a:r>
          </a:p>
          <a:p>
            <a:pPr>
              <a:defRPr sz="1000">
                <a:solidFill>
                  <a:srgbClr val="334155"/>
                </a:solidFill>
              </a:defRPr>
            </a:pPr>
            <a:r>
              <a:t>   FIPS 180-4 SHA-256 byte-stream hashing engine.</a:t>
            </a:r>
          </a:p>
          <a:p>
            <a:pPr>
              <a:spcBef>
                <a:spcPts val="800"/>
              </a:spcBef>
              <a:defRPr sz="1100" b="1">
                <a:solidFill>
                  <a:srgbClr val="0F172A"/>
                </a:solidFill>
              </a:defRPr>
            </a:pPr>
            <a:r>
              <a:t>• Web3 Integration</a:t>
            </a:r>
          </a:p>
          <a:p>
            <a:pPr>
              <a:defRPr sz="1000">
                <a:solidFill>
                  <a:srgbClr val="334155"/>
                </a:solidFill>
              </a:defRPr>
            </a:pPr>
            <a:r>
              <a:t>   Web3.py client signing transactions using institution private keys.</a:t>
            </a:r>
          </a:p>
          <a:p>
            <a:pPr>
              <a:spcBef>
                <a:spcPts val="800"/>
              </a:spcBef>
              <a:defRPr sz="1100" b="1">
                <a:solidFill>
                  <a:srgbClr val="0F172A"/>
                </a:solidFill>
              </a:defRPr>
            </a:pPr>
            <a:r>
              <a:t>• Relational Metadata</a:t>
            </a:r>
          </a:p>
          <a:p>
            <a:pPr>
              <a:defRPr sz="1000">
                <a:solidFill>
                  <a:srgbClr val="334155"/>
                </a:solidFill>
              </a:defRPr>
            </a:pPr>
            <a:r>
              <a:t>   SQLAlchemy + SQLite/PostgreSQL managing institutional logins &amp; metadata.</a:t>
            </a:r>
          </a:p>
        </p:txBody>
      </p:sp>
      <p:sp>
        <p:nvSpPr>
          <p:cNvPr id="8" name="Rounded Rectangle 7"/>
          <p:cNvSpPr/>
          <p:nvPr/>
        </p:nvSpPr>
        <p:spPr>
          <a:xfrm>
            <a:off x="8046720" y="1508760"/>
            <a:ext cx="3401568"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10B981"/>
                </a:solidFill>
              </a:defRPr>
            </a:pPr>
            <a:r>
              <a:t>3. IMMUTABLE LEDGER</a:t>
            </a:r>
          </a:p>
          <a:p>
            <a:pPr>
              <a:spcBef>
                <a:spcPts val="200"/>
              </a:spcBef>
              <a:defRPr sz="1100">
                <a:solidFill>
                  <a:srgbClr val="64748B"/>
                </a:solidFill>
              </a:defRPr>
            </a:pPr>
            <a:r>
              <a:t>Solidity ^0.8.20 &amp; Ethereum EVM</a:t>
            </a:r>
          </a:p>
          <a:p>
            <a:pPr>
              <a:spcBef>
                <a:spcPts val="800"/>
              </a:spcBef>
              <a:defRPr sz="1100" b="1">
                <a:solidFill>
                  <a:srgbClr val="0F172A"/>
                </a:solidFill>
              </a:defRPr>
            </a:pPr>
            <a:r>
              <a:t>• Smart Contract</a:t>
            </a:r>
          </a:p>
          <a:p>
            <a:pPr>
              <a:defRPr sz="1000">
                <a:solidFill>
                  <a:srgbClr val="334155"/>
                </a:solidFill>
              </a:defRPr>
            </a:pPr>
            <a:r>
              <a:t>   AcademicCertificateRegistry.sol deployed on Ethereum EVM / Hardhat.</a:t>
            </a:r>
          </a:p>
          <a:p>
            <a:pPr>
              <a:spcBef>
                <a:spcPts val="800"/>
              </a:spcBef>
              <a:defRPr sz="1100" b="1">
                <a:solidFill>
                  <a:srgbClr val="0F172A"/>
                </a:solidFill>
              </a:defRPr>
            </a:pPr>
            <a:r>
              <a:t>• State Mappings</a:t>
            </a:r>
          </a:p>
          <a:p>
            <a:pPr>
              <a:defRPr sz="1000">
                <a:solidFill>
                  <a:srgbClr val="334155"/>
                </a:solidFill>
              </a:defRPr>
            </a:pPr>
            <a:r>
              <a:t>   Stores bytes32 certificateHash, issuer address, block timestamp, revoked bool.</a:t>
            </a:r>
          </a:p>
          <a:p>
            <a:pPr>
              <a:spcBef>
                <a:spcPts val="800"/>
              </a:spcBef>
              <a:defRPr sz="1100" b="1">
                <a:solidFill>
                  <a:srgbClr val="0F172A"/>
                </a:solidFill>
              </a:defRPr>
            </a:pPr>
            <a:r>
              <a:t>• Role-Based Security</a:t>
            </a:r>
          </a:p>
          <a:p>
            <a:pPr>
              <a:defRPr sz="1000">
                <a:solidFill>
                  <a:srgbClr val="334155"/>
                </a:solidFill>
              </a:defRPr>
            </a:pPr>
            <a:r>
              <a:t>   Contract Owner authorizes universities; only authorized issuers can mint.</a:t>
            </a:r>
          </a:p>
          <a:p>
            <a:pPr>
              <a:spcBef>
                <a:spcPts val="800"/>
              </a:spcBef>
              <a:defRPr sz="1100" b="1">
                <a:solidFill>
                  <a:srgbClr val="0F172A"/>
                </a:solidFill>
              </a:defRPr>
            </a:pPr>
            <a:r>
              <a:t>• Zero-Gas Queries</a:t>
            </a:r>
          </a:p>
          <a:p>
            <a:pPr>
              <a:defRPr sz="1000">
                <a:solidFill>
                  <a:srgbClr val="334155"/>
                </a:solidFill>
              </a:defRPr>
            </a:pPr>
            <a:r>
              <a:t>   Public view functions execute off-chain without spending ETH or gas.</a:t>
            </a:r>
          </a:p>
          <a:p>
            <a:pPr>
              <a:spcBef>
                <a:spcPts val="800"/>
              </a:spcBef>
              <a:defRPr sz="1100" b="1">
                <a:solidFill>
                  <a:srgbClr val="0F172A"/>
                </a:solidFill>
              </a:defRPr>
            </a:pPr>
            <a:r>
              <a:t>• Tamper-Proof Audit</a:t>
            </a:r>
          </a:p>
          <a:p>
            <a:pPr>
              <a:defRPr sz="1000">
                <a:solidFill>
                  <a:srgbClr val="334155"/>
                </a:solidFill>
              </a:defRPr>
            </a:pPr>
            <a:r>
              <a:t>   Immutable event logs (CertificateIssued, CertificateRevoked).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ACADEMIC PROJECT DEFENSE • BLOCKCHAIN VERIFICATION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Smart Contract Engineering: AcademicCertificateRegistry.sol</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5669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2563EB"/>
                </a:solidFill>
              </a:defRPr>
            </a:pPr>
            <a:r>
              <a:t>📜 Smart Contract State &amp; Functions</a:t>
            </a:r>
          </a:p>
          <a:p>
            <a:pPr>
              <a:spcBef>
                <a:spcPts val="600"/>
              </a:spcBef>
              <a:defRPr sz="1050" b="1">
                <a:solidFill>
                  <a:srgbClr val="0F172A"/>
                </a:solidFill>
              </a:defRPr>
            </a:pPr>
            <a:r>
              <a:t>▶ struct Certificate</a:t>
            </a:r>
          </a:p>
          <a:p>
            <a:pPr>
              <a:defRPr sz="950">
                <a:solidFill>
                  <a:srgbClr val="334155"/>
                </a:solidFill>
              </a:defRPr>
            </a:pPr>
            <a:r>
              <a:t>   bytes32 certificateHash, address issuer, uint256 issuedAt, bool revoked.</a:t>
            </a:r>
          </a:p>
          <a:p>
            <a:pPr>
              <a:spcBef>
                <a:spcPts val="600"/>
              </a:spcBef>
              <a:defRPr sz="1050" b="1">
                <a:solidFill>
                  <a:srgbClr val="0F172A"/>
                </a:solidFill>
              </a:defRPr>
            </a:pPr>
            <a:r>
              <a:t>▶ authorizeIssuer(address _issuer)</a:t>
            </a:r>
          </a:p>
          <a:p>
            <a:pPr>
              <a:defRPr sz="950">
                <a:solidFill>
                  <a:srgbClr val="334155"/>
                </a:solidFill>
              </a:defRPr>
            </a:pPr>
            <a:r>
              <a:t>   Restricted to contract owner. Enrolls accredited university wallet addresses.</a:t>
            </a:r>
          </a:p>
          <a:p>
            <a:pPr>
              <a:spcBef>
                <a:spcPts val="600"/>
              </a:spcBef>
              <a:defRPr sz="1050" b="1">
                <a:solidFill>
                  <a:srgbClr val="0F172A"/>
                </a:solidFill>
              </a:defRPr>
            </a:pPr>
            <a:r>
              <a:t>▶ revokeIssuer(address _issuer)</a:t>
            </a:r>
          </a:p>
          <a:p>
            <a:pPr>
              <a:defRPr sz="950">
                <a:solidFill>
                  <a:srgbClr val="334155"/>
                </a:solidFill>
              </a:defRPr>
            </a:pPr>
            <a:r>
              <a:t>   Removes issuing privileges if an institution loses accreditation.</a:t>
            </a:r>
          </a:p>
          <a:p>
            <a:pPr>
              <a:spcBef>
                <a:spcPts val="600"/>
              </a:spcBef>
              <a:defRPr sz="1050" b="1">
                <a:solidFill>
                  <a:srgbClr val="0F172A"/>
                </a:solidFill>
              </a:defRPr>
            </a:pPr>
            <a:r>
              <a:t>▶ issueCertificate(string certId, bytes32 hash)</a:t>
            </a:r>
          </a:p>
          <a:p>
            <a:pPr>
              <a:defRPr sz="950">
                <a:solidFill>
                  <a:srgbClr val="334155"/>
                </a:solidFill>
              </a:defRPr>
            </a:pPr>
            <a:r>
              <a:t>   Mints a certificate record on-chain. Reverts if duplicate certId or unauthorized caller.</a:t>
            </a:r>
          </a:p>
          <a:p>
            <a:pPr>
              <a:spcBef>
                <a:spcPts val="600"/>
              </a:spcBef>
              <a:defRPr sz="1050" b="1">
                <a:solidFill>
                  <a:srgbClr val="0F172A"/>
                </a:solidFill>
              </a:defRPr>
            </a:pPr>
            <a:r>
              <a:t>▶ verifyCertificate(string certId, bytes32 hash)</a:t>
            </a:r>
          </a:p>
          <a:p>
            <a:pPr>
              <a:defRPr sz="950">
                <a:solidFill>
                  <a:srgbClr val="334155"/>
                </a:solidFill>
              </a:defRPr>
            </a:pPr>
            <a:r>
              <a:t>   View function returning (exists, hashMatches, revoked, issuer, issuedAt) in a single zero-gas call.</a:t>
            </a:r>
          </a:p>
          <a:p>
            <a:pPr>
              <a:spcBef>
                <a:spcPts val="600"/>
              </a:spcBef>
              <a:defRPr sz="1050" b="1">
                <a:solidFill>
                  <a:srgbClr val="0F172A"/>
                </a:solidFill>
              </a:defRPr>
            </a:pPr>
            <a:r>
              <a:t>▶ revokeCertificate(string certId)</a:t>
            </a:r>
          </a:p>
          <a:p>
            <a:pPr>
              <a:defRPr sz="950">
                <a:solidFill>
                  <a:srgbClr val="334155"/>
                </a:solidFill>
              </a:defRPr>
            </a:pPr>
            <a:r>
              <a:t>   Enforces that ONLY the original issuing university can revoke a diploma.</a:t>
            </a:r>
          </a:p>
        </p:txBody>
      </p:sp>
      <p:sp>
        <p:nvSpPr>
          <p:cNvPr id="7" name="Rounded Rectangle 6"/>
          <p:cNvSpPr/>
          <p:nvPr/>
        </p:nvSpPr>
        <p:spPr>
          <a:xfrm>
            <a:off x="6675120" y="1508760"/>
            <a:ext cx="4785055" cy="48463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93C5FD"/>
                </a:solidFill>
              </a:defRPr>
            </a:pPr>
            <a:r>
              <a:t>⚡ Solidity Implementation Highlight</a:t>
            </a:r>
          </a:p>
          <a:p>
            <a:pPr>
              <a:spcBef>
                <a:spcPts val="600"/>
              </a:spcBef>
              <a:defRPr sz="850">
                <a:solidFill>
                  <a:srgbClr val="E2E8F0"/>
                </a:solidFill>
                <a:latin typeface="Consolas"/>
              </a:defRPr>
            </a:pPr>
            <a:r>
              <a:t>// Gas-Efficient Custom Errors (Solidity 0.8.20)</a:t>
            </a:r>
            <a:br/>
            <a:r>
              <a:t>error UnauthorizedIssuer(address caller);</a:t>
            </a:r>
            <a:br/>
            <a:r>
              <a:t>error CertificateAlreadyExists(string certId);</a:t>
            </a:r>
            <a:br/>
            <a:r>
              <a:t>error NotOriginalIssuer(address caller);</a:t>
            </a:r>
            <a:br/>
            <a:br/>
            <a:r>
              <a:t>struct Certificate {</a:t>
            </a:r>
            <a:br/>
            <a:r>
              <a:t>    bytes32 certificateHash;</a:t>
            </a:r>
            <a:br/>
            <a:r>
              <a:t>    address issuer;</a:t>
            </a:r>
            <a:br/>
            <a:r>
              <a:t>    uint256 issuedAt;</a:t>
            </a:r>
            <a:br/>
            <a:r>
              <a:t>    bool revoked;</a:t>
            </a:r>
            <a:br/>
            <a:r>
              <a:t>}</a:t>
            </a:r>
            <a:br/>
            <a:br/>
            <a:r>
              <a:t>mapping(bytes32 =&gt; Certificate) private certificates;</a:t>
            </a:r>
            <a:br/>
            <a:r>
              <a:t>mapping(address =&gt; bool) public authorizedIssuers;</a:t>
            </a:r>
            <a:br/>
            <a:br/>
            <a:r>
              <a:t>function verifyCertificate(</a:t>
            </a:r>
            <a:br/>
            <a:r>
              <a:t>    string calldata _certificateId,</a:t>
            </a:r>
            <a:br/>
            <a:r>
              <a:t>    bytes32 _certificateHash</a:t>
            </a:r>
            <a:br/>
            <a:r>
              <a:t>) external view returns (</a:t>
            </a:r>
            <a:br/>
            <a:r>
              <a:t>    bool exists, bool hashMatches, bool revoked,</a:t>
            </a:r>
            <a:br/>
            <a:r>
              <a:t>    address issuer, uint256 issuedAt</a:t>
            </a:r>
            <a:br/>
            <a:r>
              <a:t>) { ... }</a:t>
            </a:r>
          </a:p>
          <a:p>
            <a:pPr>
              <a:spcBef>
                <a:spcPts val="800"/>
              </a:spcBef>
              <a:defRPr sz="1050" b="1">
                <a:solidFill>
                  <a:srgbClr val="10B981"/>
                </a:solidFill>
              </a:defRPr>
            </a:pPr>
            <a:r>
              <a:t>Gas Optimization &amp; EVM Security:</a:t>
            </a:r>
          </a:p>
          <a:p>
            <a:pPr>
              <a:spcBef>
                <a:spcPts val="300"/>
              </a:spcBef>
              <a:defRPr sz="900">
                <a:solidFill>
                  <a:srgbClr val="CBD5E1"/>
                </a:solidFill>
              </a:defRPr>
            </a:pPr>
            <a:r>
              <a:t>✔ Custom errors replace require strings, saving ~2,100 gas on reverts.</a:t>
            </a:r>
          </a:p>
          <a:p>
            <a:pPr>
              <a:spcBef>
                <a:spcPts val="300"/>
              </a:spcBef>
              <a:defRPr sz="900">
                <a:solidFill>
                  <a:srgbClr val="CBD5E1"/>
                </a:solidFill>
              </a:defRPr>
            </a:pPr>
            <a:r>
              <a:t>✔ Calldata used for string parameters to eliminate memory allocation.</a:t>
            </a:r>
          </a:p>
          <a:p>
            <a:pPr>
              <a:spcBef>
                <a:spcPts val="300"/>
              </a:spcBef>
              <a:defRPr sz="900">
                <a:solidFill>
                  <a:srgbClr val="CBD5E1"/>
                </a:solidFill>
              </a:defRPr>
            </a:pPr>
            <a:r>
              <a:t>✔ View functions run via local node RPC with 0 gas cost to verifiers.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ACADEMIC PROJECT DEFENSE • BLOCKCHAIN VERIFICATION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Cryptographic Engine: SHA-256 &amp; The Avalanche Effect</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2563EB"/>
                </a:solidFill>
              </a:defRPr>
            </a:pPr>
            <a:r>
              <a:t>🔬 The SHA-256 Avalanche Effect</a:t>
            </a:r>
          </a:p>
          <a:p>
            <a:pPr>
              <a:spcBef>
                <a:spcPts val="800"/>
              </a:spcBef>
              <a:defRPr sz="1100" b="1">
                <a:solidFill>
                  <a:srgbClr val="0F172A"/>
                </a:solidFill>
              </a:defRPr>
            </a:pPr>
            <a:r>
              <a:t>• Deterministic Vector PDF</a:t>
            </a:r>
          </a:p>
          <a:p>
            <a:pPr>
              <a:defRPr sz="1000">
                <a:solidFill>
                  <a:srgbClr val="334155"/>
                </a:solidFill>
              </a:defRPr>
            </a:pPr>
            <a:r>
              <a:t>   The diploma PDF is generated via ReportLab using fixed coordinates, fonts, anti-counterfeit guilloche borders, and an embedded dynamic QR code.</a:t>
            </a:r>
          </a:p>
          <a:p>
            <a:pPr>
              <a:spcBef>
                <a:spcPts val="800"/>
              </a:spcBef>
              <a:defRPr sz="1100" b="1">
                <a:solidFill>
                  <a:srgbClr val="0F172A"/>
                </a:solidFill>
              </a:defRPr>
            </a:pPr>
            <a:r>
              <a:t>• Cryptographic Stream Hashing</a:t>
            </a:r>
          </a:p>
          <a:p>
            <a:pPr>
              <a:defRPr sz="1000">
                <a:solidFill>
                  <a:srgbClr val="334155"/>
                </a:solidFill>
              </a:defRPr>
            </a:pPr>
            <a:r>
              <a:t>   The complete binary stream is digested using SHA-256 (FIPS 180-4), yielding a 256-bit (32-byte) collision-resistant hexadecimal fingerprint.</a:t>
            </a:r>
          </a:p>
          <a:p>
            <a:pPr>
              <a:spcBef>
                <a:spcPts val="800"/>
              </a:spcBef>
              <a:defRPr sz="1100" b="1">
                <a:solidFill>
                  <a:srgbClr val="0F172A"/>
                </a:solidFill>
              </a:defRPr>
            </a:pPr>
            <a:r>
              <a:t>• The Avalanche Property</a:t>
            </a:r>
          </a:p>
          <a:p>
            <a:pPr>
              <a:defRPr sz="1000">
                <a:solidFill>
                  <a:srgbClr val="334155"/>
                </a:solidFill>
              </a:defRPr>
            </a:pPr>
            <a:r>
              <a:t>   A strict mathematical requirement of secure hash functions: flipping a single bit in the input causes approximately 50% of the output bits to flip at random.</a:t>
            </a:r>
          </a:p>
          <a:p>
            <a:pPr>
              <a:spcBef>
                <a:spcPts val="800"/>
              </a:spcBef>
              <a:defRPr sz="1100" b="1">
                <a:solidFill>
                  <a:srgbClr val="0F172A"/>
                </a:solidFill>
              </a:defRPr>
            </a:pPr>
            <a:r>
              <a:t>• Collision Resistance</a:t>
            </a:r>
          </a:p>
          <a:p>
            <a:pPr>
              <a:defRPr sz="1000">
                <a:solidFill>
                  <a:srgbClr val="334155"/>
                </a:solidFill>
              </a:defRPr>
            </a:pPr>
            <a:r>
              <a:t>   Finding two different certificates that produce the same hash requires computing 2^128 operations, which is computationally impossible with modern supercomputers.</a:t>
            </a:r>
          </a:p>
        </p:txBody>
      </p:sp>
      <p:sp>
        <p:nvSpPr>
          <p:cNvPr id="7" name="Rounded Rectangle 6"/>
          <p:cNvSpPr/>
          <p:nvPr/>
        </p:nvSpPr>
        <p:spPr>
          <a:xfrm>
            <a:off x="6217920" y="1508760"/>
            <a:ext cx="524225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4F46E5"/>
                </a:solidFill>
              </a:defRPr>
            </a:pPr>
            <a:r>
              <a:t>🧪 Live Empirical Tamper Experiment</a:t>
            </a:r>
          </a:p>
        </p:txBody>
      </p:sp>
      <p:sp>
        <p:nvSpPr>
          <p:cNvPr id="8" name="Rounded Rectangle 7"/>
          <p:cNvSpPr/>
          <p:nvPr/>
        </p:nvSpPr>
        <p:spPr>
          <a:xfrm>
            <a:off x="6446520" y="2057400"/>
            <a:ext cx="4754880" cy="192024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50" b="1">
                <a:solidFill>
                  <a:srgbClr val="065F46"/>
                </a:solidFill>
              </a:defRPr>
            </a:pPr>
            <a:r>
              <a:t>AUTHENTIC DIPLOMA (ORIGINAL PDF)</a:t>
            </a:r>
          </a:p>
          <a:p>
            <a:pPr>
              <a:spcBef>
                <a:spcPts val="400"/>
              </a:spcBef>
              <a:defRPr sz="950">
                <a:solidFill>
                  <a:srgbClr val="064E3B"/>
                </a:solidFill>
                <a:latin typeface="Consolas"/>
              </a:defRPr>
            </a:pPr>
            <a:r>
              <a:t>• Binary Hash: 0x7f4a9b2c8d1e...a3f4</a:t>
            </a:r>
            <a:br/>
            <a:r>
              <a:t>• On-Chain Hash: 0x7f4a9b2c8d1e...a3f4</a:t>
            </a:r>
            <a:br/>
            <a:r>
              <a:t>• Hash Comparison: EXACT MATCH (TRUE)</a:t>
            </a:r>
            <a:br/>
            <a:r>
              <a:t>• Smart Contract Verdict: ✅ VALID &amp; AUTHORITATIVE</a:t>
            </a:r>
          </a:p>
        </p:txBody>
      </p:sp>
      <p:sp>
        <p:nvSpPr>
          <p:cNvPr id="9" name="Rounded Rectangle 8"/>
          <p:cNvSpPr/>
          <p:nvPr/>
        </p:nvSpPr>
        <p:spPr>
          <a:xfrm>
            <a:off x="6446520" y="4160520"/>
            <a:ext cx="4754880" cy="1920240"/>
          </a:xfrm>
          <a:prstGeom prst="roundRect">
            <a:avLst/>
          </a:prstGeom>
          <a:solidFill>
            <a:srgbClr val="FEF2F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50" b="1">
                <a:solidFill>
                  <a:srgbClr val="991B1B"/>
                </a:solidFill>
              </a:defRPr>
            </a:pPr>
            <a:r>
              <a:t>ALTERED DIPLOMA (10 BYTES MODIFIED)</a:t>
            </a:r>
          </a:p>
          <a:p>
            <a:pPr>
              <a:spcBef>
                <a:spcPts val="400"/>
              </a:spcBef>
              <a:defRPr sz="950">
                <a:solidFill>
                  <a:srgbClr val="7F1D1D"/>
                </a:solidFill>
                <a:latin typeface="Consolas"/>
              </a:defRPr>
            </a:pPr>
            <a:r>
              <a:t>• Tamper: 'Grade A' altered to 'Grade A+' (10 bytes)</a:t>
            </a:r>
            <a:br/>
            <a:r>
              <a:t>• Altered Hash: 0x19e34c9f7a02...bb12</a:t>
            </a:r>
            <a:br/>
            <a:r>
              <a:t>• On-Chain Hash: 0x7f4a9b2c8d1e...a3f4</a:t>
            </a:r>
            <a:br/>
            <a:r>
              <a:t>• Smart Contract Verdict: ❌ TAMPERED / FORGED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ACADEMIC PROJECT DEFENSE • BLOCKCHAIN VERIFICATION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Privacy by Design: Zero-PII On-Chain &amp; Legal Compliance</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3401568"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2563EB"/>
                </a:solidFill>
              </a:defRPr>
            </a:pPr>
            <a:r>
              <a:t>🇪🇺 GDPR Compliance</a:t>
            </a:r>
          </a:p>
          <a:p>
            <a:pPr>
              <a:spcBef>
                <a:spcPts val="200"/>
              </a:spcBef>
              <a:defRPr sz="1100">
                <a:solidFill>
                  <a:srgbClr val="64748B"/>
                </a:solidFill>
              </a:defRPr>
            </a:pPr>
            <a:r>
              <a:t>Article 17: Right to Erasure</a:t>
            </a:r>
          </a:p>
          <a:p>
            <a:pPr>
              <a:spcBef>
                <a:spcPts val="800"/>
              </a:spcBef>
              <a:defRPr sz="1100" b="1">
                <a:solidFill>
                  <a:srgbClr val="0F172A"/>
                </a:solidFill>
              </a:defRPr>
            </a:pPr>
            <a:r>
              <a:t>• The Legal Trap</a:t>
            </a:r>
          </a:p>
          <a:p>
            <a:pPr>
              <a:defRPr sz="1000">
                <a:solidFill>
                  <a:srgbClr val="334155"/>
                </a:solidFill>
              </a:defRPr>
            </a:pPr>
            <a:r>
              <a:t>   If student names/grades are stored on Ethereum, they cannot be deleted, permanently violating GDPR Article 17.</a:t>
            </a:r>
          </a:p>
          <a:p>
            <a:pPr>
              <a:spcBef>
                <a:spcPts val="800"/>
              </a:spcBef>
              <a:defRPr sz="1100" b="1">
                <a:solidFill>
                  <a:srgbClr val="0F172A"/>
                </a:solidFill>
              </a:defRPr>
            </a:pPr>
            <a:r>
              <a:t>• CertLedger Solution</a:t>
            </a:r>
          </a:p>
          <a:p>
            <a:pPr>
              <a:defRPr sz="1000">
                <a:solidFill>
                  <a:srgbClr val="334155"/>
                </a:solidFill>
              </a:defRPr>
            </a:pPr>
            <a:r>
              <a:t>   Only non-invertible hashes reside on-chain. Off-chain database records can be fully deleted or anonymized upon request.</a:t>
            </a:r>
          </a:p>
          <a:p>
            <a:pPr>
              <a:spcBef>
                <a:spcPts val="800"/>
              </a:spcBef>
              <a:defRPr sz="1100" b="1">
                <a:solidFill>
                  <a:srgbClr val="0F172A"/>
                </a:solidFill>
              </a:defRPr>
            </a:pPr>
            <a:r>
              <a:t>• Data Minimization</a:t>
            </a:r>
          </a:p>
          <a:p>
            <a:pPr>
              <a:defRPr sz="1000">
                <a:solidFill>
                  <a:srgbClr val="334155"/>
                </a:solidFill>
              </a:defRPr>
            </a:pPr>
            <a:r>
              <a:t>   Complies with GDPR Article 5(1)(c) by storing strictly the bare minimum verification anchor.</a:t>
            </a:r>
          </a:p>
        </p:txBody>
      </p:sp>
      <p:sp>
        <p:nvSpPr>
          <p:cNvPr id="7" name="Rounded Rectangle 6"/>
          <p:cNvSpPr/>
          <p:nvPr/>
        </p:nvSpPr>
        <p:spPr>
          <a:xfrm>
            <a:off x="4389120" y="1508760"/>
            <a:ext cx="3401568"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4F46E5"/>
                </a:solidFill>
              </a:defRPr>
            </a:pPr>
            <a:r>
              <a:t>🏛️ FERPA Compliance</a:t>
            </a:r>
          </a:p>
          <a:p>
            <a:pPr>
              <a:spcBef>
                <a:spcPts val="200"/>
              </a:spcBef>
              <a:defRPr sz="1100">
                <a:solidFill>
                  <a:srgbClr val="64748B"/>
                </a:solidFill>
              </a:defRPr>
            </a:pPr>
            <a:r>
              <a:t>Educational Rights &amp; Privacy Act</a:t>
            </a:r>
          </a:p>
          <a:p>
            <a:pPr>
              <a:spcBef>
                <a:spcPts val="800"/>
              </a:spcBef>
              <a:defRPr sz="1100" b="1">
                <a:solidFill>
                  <a:srgbClr val="0F172A"/>
                </a:solidFill>
              </a:defRPr>
            </a:pPr>
            <a:r>
              <a:t>• Confidentiality Mandate</a:t>
            </a:r>
          </a:p>
          <a:p>
            <a:pPr>
              <a:defRPr sz="1000">
                <a:solidFill>
                  <a:srgbClr val="334155"/>
                </a:solidFill>
              </a:defRPr>
            </a:pPr>
            <a:r>
              <a:t>   FERPA prohibits the disclosure of student educational records without prior written consent.</a:t>
            </a:r>
          </a:p>
          <a:p>
            <a:pPr>
              <a:spcBef>
                <a:spcPts val="800"/>
              </a:spcBef>
              <a:defRPr sz="1100" b="1">
                <a:solidFill>
                  <a:srgbClr val="0F172A"/>
                </a:solidFill>
              </a:defRPr>
            </a:pPr>
            <a:r>
              <a:t>• Public Explorers Safe</a:t>
            </a:r>
          </a:p>
          <a:p>
            <a:pPr>
              <a:defRPr sz="1000">
                <a:solidFill>
                  <a:srgbClr val="334155"/>
                </a:solidFill>
              </a:defRPr>
            </a:pPr>
            <a:r>
              <a:t>   Anyone inspecting the blockchain via Etherscan or block explorers sees only meaningless 64-hex characters.</a:t>
            </a:r>
          </a:p>
          <a:p>
            <a:pPr>
              <a:spcBef>
                <a:spcPts val="800"/>
              </a:spcBef>
              <a:defRPr sz="1100" b="1">
                <a:solidFill>
                  <a:srgbClr val="0F172A"/>
                </a:solidFill>
              </a:defRPr>
            </a:pPr>
            <a:r>
              <a:t>• Zero Grade Leakage</a:t>
            </a:r>
          </a:p>
          <a:p>
            <a:pPr>
              <a:defRPr sz="1000">
                <a:solidFill>
                  <a:srgbClr val="334155"/>
                </a:solidFill>
              </a:defRPr>
            </a:pPr>
            <a:r>
              <a:t>   GPA, coursework, majors, and disciplinary histories never touch the mempool or ledger.</a:t>
            </a:r>
          </a:p>
        </p:txBody>
      </p:sp>
      <p:sp>
        <p:nvSpPr>
          <p:cNvPr id="8" name="Rounded Rectangle 7"/>
          <p:cNvSpPr/>
          <p:nvPr/>
        </p:nvSpPr>
        <p:spPr>
          <a:xfrm>
            <a:off x="8046720" y="1508760"/>
            <a:ext cx="3401568"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10B981"/>
                </a:solidFill>
              </a:defRPr>
            </a:pPr>
            <a:r>
              <a:t>🔒 Cryptographic Proof</a:t>
            </a:r>
          </a:p>
          <a:p>
            <a:pPr>
              <a:spcBef>
                <a:spcPts val="200"/>
              </a:spcBef>
              <a:defRPr sz="1100">
                <a:solidFill>
                  <a:srgbClr val="64748B"/>
                </a:solidFill>
              </a:defRPr>
            </a:pPr>
            <a:r>
              <a:t>Irreversibility &amp; Pre-image Resistance</a:t>
            </a:r>
          </a:p>
          <a:p>
            <a:pPr>
              <a:spcBef>
                <a:spcPts val="800"/>
              </a:spcBef>
              <a:defRPr sz="1100" b="1">
                <a:solidFill>
                  <a:srgbClr val="0F172A"/>
                </a:solidFill>
              </a:defRPr>
            </a:pPr>
            <a:r>
              <a:t>• One-Way Function</a:t>
            </a:r>
          </a:p>
          <a:p>
            <a:pPr>
              <a:defRPr sz="1000">
                <a:solidFill>
                  <a:srgbClr val="334155"/>
                </a:solidFill>
              </a:defRPr>
            </a:pPr>
            <a:r>
              <a:t>   Given hash H = SHA-256(PDF), finding the original PDF or student name from H alone is mathematically infeasible.</a:t>
            </a:r>
          </a:p>
          <a:p>
            <a:pPr>
              <a:spcBef>
                <a:spcPts val="800"/>
              </a:spcBef>
              <a:defRPr sz="1100" b="1">
                <a:solidFill>
                  <a:srgbClr val="0F172A"/>
                </a:solidFill>
              </a:defRPr>
            </a:pPr>
            <a:r>
              <a:t>• Immense Keyspace</a:t>
            </a:r>
          </a:p>
          <a:p>
            <a:pPr>
              <a:defRPr sz="1000">
                <a:solidFill>
                  <a:srgbClr val="334155"/>
                </a:solidFill>
              </a:defRPr>
            </a:pPr>
            <a:r>
              <a:t>   The search space is 2^256 possible outputs (~1.15 x 10^77 combinations, more than atoms in the observable universe).</a:t>
            </a:r>
          </a:p>
          <a:p>
            <a:pPr>
              <a:spcBef>
                <a:spcPts val="800"/>
              </a:spcBef>
              <a:defRPr sz="1100" b="1">
                <a:solidFill>
                  <a:srgbClr val="0F172A"/>
                </a:solidFill>
              </a:defRPr>
            </a:pPr>
            <a:r>
              <a:t>• Rainbow Table Immune</a:t>
            </a:r>
          </a:p>
          <a:p>
            <a:pPr>
              <a:defRPr sz="1000">
                <a:solidFill>
                  <a:srgbClr val="334155"/>
                </a:solidFill>
              </a:defRPr>
            </a:pPr>
            <a:r>
              <a:t>   Because each PDF contains a unique certificate ID, issue date, and random vector elements, rainbow tables fail.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ACADEMIC PROJECT DEFENSE • BLOCKCHAIN VERIFICATION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Certificate Issuance Lifecycle: From Enrollment to On-Chain Minting</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201168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37160" rIns="137160" tIns="182880"/>
          <a:lstStyle/>
          <a:p>
            <a:pPr algn="ctr">
              <a:defRPr sz="1100" b="1">
                <a:solidFill>
                  <a:srgbClr val="2563EB"/>
                </a:solidFill>
              </a:defRPr>
            </a:pPr>
            <a:r>
              <a:t>Step 1</a:t>
            </a:r>
          </a:p>
          <a:p>
            <a:pPr>
              <a:spcBef>
                <a:spcPts val="400"/>
              </a:spcBef>
              <a:defRPr sz="1300" b="1">
                <a:solidFill>
                  <a:srgbClr val="0F172A"/>
                </a:solidFill>
              </a:defRPr>
            </a:pPr>
            <a:r>
              <a:t>Registrar Auth</a:t>
            </a:r>
          </a:p>
          <a:p>
            <a:pPr>
              <a:spcBef>
                <a:spcPts val="600"/>
              </a:spcBef>
              <a:defRPr sz="950">
                <a:solidFill>
                  <a:srgbClr val="334155"/>
                </a:solidFill>
              </a:defRPr>
            </a:pPr>
            <a:r>
              <a:t>University admin authenticates via JWT / Bcrypt credentials into the secure portal.</a:t>
            </a:r>
          </a:p>
        </p:txBody>
      </p:sp>
      <p:sp>
        <p:nvSpPr>
          <p:cNvPr id="7" name="Rounded Rectangle 6"/>
          <p:cNvSpPr/>
          <p:nvPr/>
        </p:nvSpPr>
        <p:spPr>
          <a:xfrm>
            <a:off x="2907791" y="1554480"/>
            <a:ext cx="201168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37160" rIns="137160" tIns="182880"/>
          <a:lstStyle/>
          <a:p>
            <a:pPr algn="ctr">
              <a:defRPr sz="1100" b="1">
                <a:solidFill>
                  <a:srgbClr val="4F46E5"/>
                </a:solidFill>
              </a:defRPr>
            </a:pPr>
            <a:r>
              <a:t>Step 2</a:t>
            </a:r>
          </a:p>
          <a:p>
            <a:pPr>
              <a:spcBef>
                <a:spcPts val="400"/>
              </a:spcBef>
              <a:defRPr sz="1300" b="1">
                <a:solidFill>
                  <a:srgbClr val="0F172A"/>
                </a:solidFill>
              </a:defRPr>
            </a:pPr>
            <a:r>
              <a:t>Data Ingestion</a:t>
            </a:r>
          </a:p>
          <a:p>
            <a:pPr>
              <a:spcBef>
                <a:spcPts val="600"/>
              </a:spcBef>
              <a:defRPr sz="950">
                <a:solidFill>
                  <a:srgbClr val="334155"/>
                </a:solidFill>
              </a:defRPr>
            </a:pPr>
            <a:r>
              <a:t>Admin enters student name, roll ID, degree title, department, and graduation year.</a:t>
            </a:r>
          </a:p>
        </p:txBody>
      </p:sp>
      <p:sp>
        <p:nvSpPr>
          <p:cNvPr id="8" name="Rounded Rectangle 7"/>
          <p:cNvSpPr/>
          <p:nvPr/>
        </p:nvSpPr>
        <p:spPr>
          <a:xfrm>
            <a:off x="5084064" y="1554480"/>
            <a:ext cx="201168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37160" rIns="137160" tIns="182880"/>
          <a:lstStyle/>
          <a:p>
            <a:pPr algn="ctr">
              <a:defRPr sz="1100" b="1">
                <a:solidFill>
                  <a:srgbClr val="10B981"/>
                </a:solidFill>
              </a:defRPr>
            </a:pPr>
            <a:r>
              <a:t>Step 3</a:t>
            </a:r>
          </a:p>
          <a:p>
            <a:pPr>
              <a:spcBef>
                <a:spcPts val="400"/>
              </a:spcBef>
              <a:defRPr sz="1300" b="1">
                <a:solidFill>
                  <a:srgbClr val="0F172A"/>
                </a:solidFill>
              </a:defRPr>
            </a:pPr>
            <a:r>
              <a:t>PDF Rendering</a:t>
            </a:r>
          </a:p>
          <a:p>
            <a:pPr>
              <a:spcBef>
                <a:spcPts val="600"/>
              </a:spcBef>
              <a:defRPr sz="950">
                <a:solidFill>
                  <a:srgbClr val="334155"/>
                </a:solidFill>
              </a:defRPr>
            </a:pPr>
            <a:r>
              <a:t>ReportLab draws deterministic vector canvas with university seal &amp; dynamic QR code.</a:t>
            </a:r>
          </a:p>
        </p:txBody>
      </p:sp>
      <p:sp>
        <p:nvSpPr>
          <p:cNvPr id="9" name="Rounded Rectangle 8"/>
          <p:cNvSpPr/>
          <p:nvPr/>
        </p:nvSpPr>
        <p:spPr>
          <a:xfrm>
            <a:off x="7260336" y="1554480"/>
            <a:ext cx="201168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37160" rIns="137160" tIns="182880"/>
          <a:lstStyle/>
          <a:p>
            <a:pPr algn="ctr">
              <a:defRPr sz="1100" b="1">
                <a:solidFill>
                  <a:srgbClr val="F59E0B"/>
                </a:solidFill>
              </a:defRPr>
            </a:pPr>
            <a:r>
              <a:t>Step 4</a:t>
            </a:r>
          </a:p>
          <a:p>
            <a:pPr>
              <a:spcBef>
                <a:spcPts val="400"/>
              </a:spcBef>
              <a:defRPr sz="1300" b="1">
                <a:solidFill>
                  <a:srgbClr val="0F172A"/>
                </a:solidFill>
              </a:defRPr>
            </a:pPr>
            <a:r>
              <a:t>SHA-256 Digest</a:t>
            </a:r>
          </a:p>
          <a:p>
            <a:pPr>
              <a:spcBef>
                <a:spcPts val="600"/>
              </a:spcBef>
              <a:defRPr sz="950">
                <a:solidFill>
                  <a:srgbClr val="334155"/>
                </a:solidFill>
              </a:defRPr>
            </a:pPr>
            <a:r>
              <a:t>Complete PDF binary stream is hashed into 32-byte cryptographic fingerprint.</a:t>
            </a:r>
          </a:p>
        </p:txBody>
      </p:sp>
      <p:sp>
        <p:nvSpPr>
          <p:cNvPr id="10" name="Rounded Rectangle 9"/>
          <p:cNvSpPr/>
          <p:nvPr/>
        </p:nvSpPr>
        <p:spPr>
          <a:xfrm>
            <a:off x="9436608" y="1554480"/>
            <a:ext cx="201168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37160" rIns="137160" tIns="182880"/>
          <a:lstStyle/>
          <a:p>
            <a:pPr algn="ctr">
              <a:defRPr sz="1100" b="1">
                <a:solidFill>
                  <a:srgbClr val="2563EB"/>
                </a:solidFill>
              </a:defRPr>
            </a:pPr>
            <a:r>
              <a:t>Step 5</a:t>
            </a:r>
          </a:p>
          <a:p>
            <a:pPr>
              <a:spcBef>
                <a:spcPts val="400"/>
              </a:spcBef>
              <a:defRPr sz="1300" b="1">
                <a:solidFill>
                  <a:srgbClr val="0F172A"/>
                </a:solidFill>
              </a:defRPr>
            </a:pPr>
            <a:r>
              <a:t>EVM Minting</a:t>
            </a:r>
          </a:p>
          <a:p>
            <a:pPr>
              <a:spcBef>
                <a:spcPts val="600"/>
              </a:spcBef>
              <a:defRPr sz="950">
                <a:solidFill>
                  <a:srgbClr val="334155"/>
                </a:solidFill>
              </a:defRPr>
            </a:pPr>
            <a:r>
              <a:t>Web3 signs issueCertificate() tx; mined into Ethereum block with immutable timestamp.</a:t>
            </a:r>
          </a:p>
        </p:txBody>
      </p:sp>
      <p:sp>
        <p:nvSpPr>
          <p:cNvPr id="11" name="Rounded Rectangle 10"/>
          <p:cNvSpPr/>
          <p:nvPr/>
        </p:nvSpPr>
        <p:spPr>
          <a:xfrm>
            <a:off x="731520" y="4709160"/>
            <a:ext cx="10728655" cy="16459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28600" rIns="228600" tIns="164592"/>
          <a:lstStyle/>
          <a:p>
            <a:pPr algn="ctr">
              <a:defRPr sz="1300" b="1">
                <a:solidFill>
                  <a:srgbClr val="2563EB"/>
                </a:solidFill>
              </a:defRPr>
            </a:pPr>
            <a:r>
              <a:t>⚙️ Cryptographic Issuance Invariants &amp; Smart Contract Guardrails</a:t>
            </a:r>
          </a:p>
          <a:p>
            <a:pPr>
              <a:spcBef>
                <a:spcPts val="400"/>
              </a:spcBef>
              <a:defRPr sz="1050">
                <a:solidFill>
                  <a:srgbClr val="334155"/>
                </a:solidFill>
              </a:defRPr>
            </a:pPr>
            <a:r>
              <a:t>✔ Anti-Replay Protection: If an admin attempts to issue an existing Certificate ID, the contract reverts with CertificateAlreadyExists.</a:t>
            </a:r>
          </a:p>
          <a:p>
            <a:pPr>
              <a:spcBef>
                <a:spcPts val="400"/>
              </a:spcBef>
              <a:defRPr sz="1050">
                <a:solidFill>
                  <a:srgbClr val="334155"/>
                </a:solidFill>
              </a:defRPr>
            </a:pPr>
            <a:r>
              <a:t>✔ Deterministic Vector PDF: ReportLab uses fixed canvas geometry, so generating the PDF from source data produces the exact same binary stream.</a:t>
            </a:r>
          </a:p>
          <a:p>
            <a:pPr>
              <a:spcBef>
                <a:spcPts val="400"/>
              </a:spcBef>
              <a:defRPr sz="1050">
                <a:solidFill>
                  <a:srgbClr val="334155"/>
                </a:solidFill>
              </a:defRPr>
            </a:pPr>
            <a:r>
              <a:t>✔ Atomic Storage: The generated PDF, transaction hash, block number, and gas used are linked together in the off-chain database.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ACADEMIC PROJECT DEFENSE • BLOCKCHAIN VERIFICATION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3-Way Zero-Trust Verification: Dropzone, ID Query &amp; QR Scanning</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3401568"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10B981"/>
                </a:solidFill>
              </a:defRPr>
            </a:pPr>
            <a:r>
              <a:t>MODE 1: PDF DROPZONE</a:t>
            </a:r>
          </a:p>
          <a:p>
            <a:pPr>
              <a:spcBef>
                <a:spcPts val="200"/>
              </a:spcBef>
              <a:defRPr sz="1100">
                <a:solidFill>
                  <a:srgbClr val="64748B"/>
                </a:solidFill>
              </a:defRPr>
            </a:pPr>
            <a:r>
              <a:t>Zero-Trust Document Verification</a:t>
            </a:r>
          </a:p>
          <a:p>
            <a:pPr>
              <a:spcBef>
                <a:spcPts val="800"/>
              </a:spcBef>
              <a:defRPr sz="1100" b="1">
                <a:solidFill>
                  <a:srgbClr val="0F172A"/>
                </a:solidFill>
              </a:defRPr>
            </a:pPr>
            <a:r>
              <a:t>• Action</a:t>
            </a:r>
          </a:p>
          <a:p>
            <a:pPr>
              <a:defRPr sz="1000">
                <a:solidFill>
                  <a:srgbClr val="334155"/>
                </a:solidFill>
              </a:defRPr>
            </a:pPr>
            <a:r>
              <a:t>   Employer drags &amp; drops candidate's PDF file directly into the browser dropzone.</a:t>
            </a:r>
          </a:p>
          <a:p>
            <a:pPr>
              <a:spcBef>
                <a:spcPts val="800"/>
              </a:spcBef>
              <a:defRPr sz="1100" b="1">
                <a:solidFill>
                  <a:srgbClr val="0F172A"/>
                </a:solidFill>
              </a:defRPr>
            </a:pPr>
            <a:r>
              <a:t>• Under the Hood</a:t>
            </a:r>
          </a:p>
          <a:p>
            <a:pPr>
              <a:defRPr sz="1000">
                <a:solidFill>
                  <a:srgbClr val="334155"/>
                </a:solidFill>
              </a:defRPr>
            </a:pPr>
            <a:r>
              <a:t>   System hashes the uploaded PDF via SHA-256 and compares it to the on-chain hash stored under its Certificate ID.</a:t>
            </a:r>
          </a:p>
          <a:p>
            <a:pPr>
              <a:spcBef>
                <a:spcPts val="800"/>
              </a:spcBef>
              <a:defRPr sz="1100" b="1">
                <a:solidFill>
                  <a:srgbClr val="0F172A"/>
                </a:solidFill>
              </a:defRPr>
            </a:pPr>
            <a:r>
              <a:t>• Verdict</a:t>
            </a:r>
          </a:p>
          <a:p>
            <a:pPr>
              <a:defRPr sz="1000">
                <a:solidFill>
                  <a:srgbClr val="334155"/>
                </a:solidFill>
              </a:defRPr>
            </a:pPr>
            <a:r>
              <a:t>   If hashes match and revoked == false -&gt; AUTHORITATIVE &amp; VALID. If altered by even 1 byte -&gt; TAMPERED.</a:t>
            </a:r>
          </a:p>
        </p:txBody>
      </p:sp>
      <p:sp>
        <p:nvSpPr>
          <p:cNvPr id="7" name="Rounded Rectangle 6"/>
          <p:cNvSpPr/>
          <p:nvPr/>
        </p:nvSpPr>
        <p:spPr>
          <a:xfrm>
            <a:off x="4389120" y="1508760"/>
            <a:ext cx="3401568"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2563EB"/>
                </a:solidFill>
              </a:defRPr>
            </a:pPr>
            <a:r>
              <a:t>MODE 2: CERTIFICATE ID</a:t>
            </a:r>
          </a:p>
          <a:p>
            <a:pPr>
              <a:spcBef>
                <a:spcPts val="200"/>
              </a:spcBef>
              <a:defRPr sz="1100">
                <a:solidFill>
                  <a:srgbClr val="64748B"/>
                </a:solidFill>
              </a:defRPr>
            </a:pPr>
            <a:r>
              <a:t>Direct On-Chain Registry Query</a:t>
            </a:r>
          </a:p>
          <a:p>
            <a:pPr>
              <a:spcBef>
                <a:spcPts val="800"/>
              </a:spcBef>
              <a:defRPr sz="1100" b="1">
                <a:solidFill>
                  <a:srgbClr val="0F172A"/>
                </a:solidFill>
              </a:defRPr>
            </a:pPr>
            <a:r>
              <a:t>• Action</a:t>
            </a:r>
          </a:p>
          <a:p>
            <a:pPr>
              <a:defRPr sz="1000">
                <a:solidFill>
                  <a:srgbClr val="334155"/>
                </a:solidFill>
              </a:defRPr>
            </a:pPr>
            <a:r>
              <a:t>   Verifier inputs Certificate ID (e.g., CERT-2026-0001) into the search portal.</a:t>
            </a:r>
          </a:p>
          <a:p>
            <a:pPr>
              <a:spcBef>
                <a:spcPts val="800"/>
              </a:spcBef>
              <a:defRPr sz="1100" b="1">
                <a:solidFill>
                  <a:srgbClr val="0F172A"/>
                </a:solidFill>
              </a:defRPr>
            </a:pPr>
            <a:r>
              <a:t>• Under the Hood</a:t>
            </a:r>
          </a:p>
          <a:p>
            <a:pPr>
              <a:defRPr sz="1000">
                <a:solidFill>
                  <a:srgbClr val="334155"/>
                </a:solidFill>
              </a:defRPr>
            </a:pPr>
            <a:r>
              <a:t>   Queries verifyCertificate() view function on EVM via JSON-RPC.</a:t>
            </a:r>
          </a:p>
          <a:p>
            <a:pPr>
              <a:spcBef>
                <a:spcPts val="800"/>
              </a:spcBef>
              <a:defRPr sz="1100" b="1">
                <a:solidFill>
                  <a:srgbClr val="0F172A"/>
                </a:solidFill>
              </a:defRPr>
            </a:pPr>
            <a:r>
              <a:t>• Verdict</a:t>
            </a:r>
          </a:p>
          <a:p>
            <a:pPr>
              <a:defRPr sz="1000">
                <a:solidFill>
                  <a:srgbClr val="334155"/>
                </a:solidFill>
              </a:defRPr>
            </a:pPr>
            <a:r>
              <a:t>   Returns existence status, issuing university wallet address, block timestamp, and live revocation status with 0 gas.</a:t>
            </a:r>
          </a:p>
        </p:txBody>
      </p:sp>
      <p:sp>
        <p:nvSpPr>
          <p:cNvPr id="8" name="Rounded Rectangle 7"/>
          <p:cNvSpPr/>
          <p:nvPr/>
        </p:nvSpPr>
        <p:spPr>
          <a:xfrm>
            <a:off x="8046720" y="1508760"/>
            <a:ext cx="3401568"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4F46E5"/>
                </a:solidFill>
              </a:defRPr>
            </a:pPr>
            <a:r>
              <a:t>MODE 3: QR CODE SCAN</a:t>
            </a:r>
          </a:p>
          <a:p>
            <a:pPr>
              <a:spcBef>
                <a:spcPts val="200"/>
              </a:spcBef>
              <a:defRPr sz="1100">
                <a:solidFill>
                  <a:srgbClr val="64748B"/>
                </a:solidFill>
              </a:defRPr>
            </a:pPr>
            <a:r>
              <a:t>Frictionless Mobile Inspection</a:t>
            </a:r>
          </a:p>
          <a:p>
            <a:pPr>
              <a:spcBef>
                <a:spcPts val="800"/>
              </a:spcBef>
              <a:defRPr sz="1100" b="1">
                <a:solidFill>
                  <a:srgbClr val="0F172A"/>
                </a:solidFill>
              </a:defRPr>
            </a:pPr>
            <a:r>
              <a:t>• Action</a:t>
            </a:r>
          </a:p>
          <a:p>
            <a:pPr>
              <a:defRPr sz="1000">
                <a:solidFill>
                  <a:srgbClr val="334155"/>
                </a:solidFill>
              </a:defRPr>
            </a:pPr>
            <a:r>
              <a:t>   Auditor or recruiter scans the QR code printed on physical/digital diploma using any smartphone camera.</a:t>
            </a:r>
          </a:p>
          <a:p>
            <a:pPr>
              <a:spcBef>
                <a:spcPts val="800"/>
              </a:spcBef>
              <a:defRPr sz="1100" b="1">
                <a:solidFill>
                  <a:srgbClr val="0F172A"/>
                </a:solidFill>
              </a:defRPr>
            </a:pPr>
            <a:r>
              <a:t>• Under the Hood</a:t>
            </a:r>
          </a:p>
          <a:p>
            <a:pPr>
              <a:defRPr sz="1000">
                <a:solidFill>
                  <a:srgbClr val="334155"/>
                </a:solidFill>
              </a:defRPr>
            </a:pPr>
            <a:r>
              <a:t>   Redirects to direct verification endpoint /verify/{cert_id}.</a:t>
            </a:r>
          </a:p>
          <a:p>
            <a:pPr>
              <a:spcBef>
                <a:spcPts val="800"/>
              </a:spcBef>
              <a:defRPr sz="1100" b="1">
                <a:solidFill>
                  <a:srgbClr val="0F172A"/>
                </a:solidFill>
              </a:defRPr>
            </a:pPr>
            <a:r>
              <a:t>• Verdict</a:t>
            </a:r>
          </a:p>
          <a:p>
            <a:pPr>
              <a:defRPr sz="1000">
                <a:solidFill>
                  <a:srgbClr val="334155"/>
                </a:solidFill>
              </a:defRPr>
            </a:pPr>
            <a:r>
              <a:t>   Presents a full cryptographic audit report: university name, degree title, tx hash, block confirmation, and status.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ACADEMIC PROJECT DEFENSE • BLOCKCHAIN VERIFICATION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Dynamic Revocation: Solving the Permanent Fraud Problem</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EF4444"/>
                </a:solidFill>
              </a:defRPr>
            </a:pPr>
            <a:r>
              <a:t>🛡️ Cryptographic Revocation Governance</a:t>
            </a:r>
          </a:p>
          <a:p>
            <a:pPr>
              <a:spcBef>
                <a:spcPts val="800"/>
              </a:spcBef>
              <a:defRPr sz="1100" b="1">
                <a:solidFill>
                  <a:srgbClr val="0F172A"/>
                </a:solidFill>
              </a:defRPr>
            </a:pPr>
            <a:r>
              <a:t>• The Critical Vulnerability in Paper</a:t>
            </a:r>
          </a:p>
          <a:p>
            <a:pPr>
              <a:defRPr sz="1000">
                <a:solidFill>
                  <a:srgbClr val="334155"/>
                </a:solidFill>
              </a:defRPr>
            </a:pPr>
            <a:r>
              <a:t>   When paper degrees or static PDFs are given to graduates, an institution has no technical means to recall them if fraud or plagiarism is discovered later.</a:t>
            </a:r>
          </a:p>
          <a:p>
            <a:pPr>
              <a:spcBef>
                <a:spcPts val="800"/>
              </a:spcBef>
              <a:defRPr sz="1100" b="1">
                <a:solidFill>
                  <a:srgbClr val="0F172A"/>
                </a:solidFill>
              </a:defRPr>
            </a:pPr>
            <a:r>
              <a:t>• Issuer-Only Authorization Rule</a:t>
            </a:r>
          </a:p>
          <a:p>
            <a:pPr>
              <a:defRPr sz="1000">
                <a:solidFill>
                  <a:srgbClr val="334155"/>
                </a:solidFill>
              </a:defRPr>
            </a:pPr>
            <a:r>
              <a:t>   In AcademicCertificateRegistry.sol, revokeCertificate() checks: msg.sender == cert.issuer. Another institution or malicious party CANNOT revoke someone else's degree.</a:t>
            </a:r>
          </a:p>
          <a:p>
            <a:pPr>
              <a:spcBef>
                <a:spcPts val="800"/>
              </a:spcBef>
              <a:defRPr sz="1100" b="1">
                <a:solidFill>
                  <a:srgbClr val="0F172A"/>
                </a:solidFill>
              </a:defRPr>
            </a:pPr>
            <a:r>
              <a:t>• Atomic State Transition</a:t>
            </a:r>
          </a:p>
          <a:p>
            <a:pPr>
              <a:defRPr sz="1000">
                <a:solidFill>
                  <a:srgbClr val="334155"/>
                </a:solidFill>
              </a:defRPr>
            </a:pPr>
            <a:r>
              <a:t>   The contract flips revoked = true and emits CertificateRevoked(certId, issuer, block.timestamp).</a:t>
            </a:r>
          </a:p>
          <a:p>
            <a:pPr>
              <a:spcBef>
                <a:spcPts val="800"/>
              </a:spcBef>
              <a:defRPr sz="1100" b="1">
                <a:solidFill>
                  <a:srgbClr val="0F172A"/>
                </a:solidFill>
              </a:defRPr>
            </a:pPr>
            <a:r>
              <a:t>• Global Instant Propagation</a:t>
            </a:r>
          </a:p>
          <a:p>
            <a:pPr>
              <a:defRPr sz="1000">
                <a:solidFill>
                  <a:srgbClr val="334155"/>
                </a:solidFill>
              </a:defRPr>
            </a:pPr>
            <a:r>
              <a:t>   The moment the block is confirmed, any employer verifying the diploma is immediately warned that the credential has been revoked.</a:t>
            </a:r>
          </a:p>
        </p:txBody>
      </p:sp>
      <p:sp>
        <p:nvSpPr>
          <p:cNvPr id="7" name="Rounded Rectangle 6"/>
          <p:cNvSpPr/>
          <p:nvPr/>
        </p:nvSpPr>
        <p:spPr>
          <a:xfrm>
            <a:off x="6217920" y="1508760"/>
            <a:ext cx="5242255" cy="4846320"/>
          </a:xfrm>
          <a:prstGeom prst="roundRect">
            <a:avLst/>
          </a:prstGeom>
          <a:solidFill>
            <a:srgbClr val="FEF2F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991B1B"/>
                </a:solidFill>
              </a:defRPr>
            </a:pPr>
            <a:r>
              <a:t>⚠️ Real-Time Revocation Simulation</a:t>
            </a:r>
          </a:p>
          <a:p>
            <a:pPr>
              <a:spcBef>
                <a:spcPts val="800"/>
              </a:spcBef>
              <a:defRPr sz="950">
                <a:solidFill>
                  <a:srgbClr val="7F1D1D"/>
                </a:solidFill>
                <a:latin typeface="Consolas"/>
              </a:defRPr>
            </a:pPr>
            <a:r>
              <a:t>// 1. Initial State (Block #1)</a:t>
            </a:r>
            <a:br/>
            <a:r>
              <a:t>status = verifyCertificate('CERT-2026-0001', hash);</a:t>
            </a:r>
            <a:br/>
            <a:r>
              <a:t>&gt;&gt; exists: true, hashMatches: true, revoked: FALSE</a:t>
            </a:r>
            <a:br/>
            <a:r>
              <a:t>&gt;&gt; Verdict: ✅ VALID</a:t>
            </a:r>
            <a:br/>
            <a:br/>
            <a:r>
              <a:t>// 2. University Discovers Plagiarism &amp; Calls Revoke</a:t>
            </a:r>
            <a:br/>
            <a:r>
              <a:t>registry.revokeCertificate('CERT-2026-0001');</a:t>
            </a:r>
            <a:br/>
            <a:r>
              <a:t>&gt;&gt; Tx mined in Block #2 | Gas: ~29,000</a:t>
            </a:r>
            <a:br/>
            <a:r>
              <a:t>&gt;&gt; Event emitted: CertificateRevoked(...)</a:t>
            </a:r>
            <a:br/>
            <a:br/>
            <a:r>
              <a:t>// 3. Verifier Re-Checks Certificate (Block #2+)</a:t>
            </a:r>
            <a:br/>
            <a:r>
              <a:t>status = verifyCertificate('CERT-2026-0001', hash);</a:t>
            </a:r>
            <a:br/>
            <a:r>
              <a:t>&gt;&gt; exists: true, hashMatches: true, revoked: TRUE</a:t>
            </a:r>
            <a:br/>
            <a:r>
              <a:t>&gt;&gt; Verdict: 🚫 REVOKED (Discredited)</a:t>
            </a:r>
          </a:p>
        </p:txBody>
      </p:sp>
      <p:sp>
        <p:nvSpPr>
          <p:cNvPr id="8" name="Rounded Rectangle 7"/>
          <p:cNvSpPr/>
          <p:nvPr/>
        </p:nvSpPr>
        <p:spPr>
          <a:xfrm>
            <a:off x="6446520" y="4892040"/>
            <a:ext cx="4754880" cy="1234440"/>
          </a:xfrm>
          <a:prstGeom prst="roundRect">
            <a:avLst/>
          </a:prstGeom>
          <a:solidFill>
            <a:srgbClr val="FFFFFF"/>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182880" rIns="182880" tIns="109728"/>
          <a:lstStyle/>
          <a:p>
            <a:pPr algn="ctr">
              <a:defRPr sz="1100" b="1">
                <a:solidFill>
                  <a:srgbClr val="EF4444"/>
                </a:solidFill>
              </a:defRPr>
            </a:pPr>
            <a:r>
              <a:t>Legal &amp; Institutional Guarantee</a:t>
            </a:r>
          </a:p>
          <a:p>
            <a:pPr>
              <a:spcBef>
                <a:spcPts val="200"/>
              </a:spcBef>
              <a:defRPr sz="950">
                <a:solidFill>
                  <a:srgbClr val="334155"/>
                </a:solidFill>
              </a:defRPr>
            </a:pPr>
            <a:r>
              <a:t>Protects the university's academic brand by ensuring fake or discredited credentials cannot circulate undetected in the job market.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ACADEMIC PROJECT DEFENSE • BLOCKCHAIN VERIFICATION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Technology Stack &amp; Implementation Matrix</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508760"/>
          <a:ext cx="10728655" cy="4846320"/>
        </p:xfrm>
        <a:graphic>
          <a:graphicData uri="http://schemas.openxmlformats.org/drawingml/2006/table">
            <a:tbl>
              <a:tblPr firstRow="1" bandRow="1">
                <a:tableStyleId>{5C22544A-7EE6-4342-B048-85BDC9FD1C3A}</a:tableStyleId>
              </a:tblPr>
              <a:tblGrid>
                <a:gridCol w="2011680"/>
                <a:gridCol w="2743200"/>
                <a:gridCol w="1371600"/>
                <a:gridCol w="4602175"/>
              </a:tblGrid>
              <a:tr h="484632">
                <a:tc>
                  <a:txBody>
                    <a:bodyPr lIns="109728" rIns="109728" tIns="54864" bIns="54864"/>
                    <a:lstStyle/>
                    <a:p>
                      <a:pPr>
                        <a:defRPr sz="1100" b="1">
                          <a:solidFill>
                            <a:srgbClr val="FFFFFF"/>
                          </a:solidFill>
                        </a:defRPr>
                      </a:pPr>
                      <a:r>
                        <a:t>Layer</a:t>
                      </a:r>
                    </a:p>
                  </a:txBody>
                  <a:tcPr anchor="ctr">
                    <a:solidFill>
                      <a:srgbClr val="0F172A"/>
                    </a:solidFill>
                  </a:tcPr>
                </a:tc>
                <a:tc>
                  <a:txBody>
                    <a:bodyPr lIns="109728" rIns="109728" tIns="54864" bIns="54864"/>
                    <a:lstStyle/>
                    <a:p>
                      <a:pPr>
                        <a:defRPr sz="1100" b="1">
                          <a:solidFill>
                            <a:srgbClr val="FFFFFF"/>
                          </a:solidFill>
                        </a:defRPr>
                      </a:pPr>
                      <a:r>
                        <a:t>Technology</a:t>
                      </a:r>
                    </a:p>
                  </a:txBody>
                  <a:tcPr anchor="ctr">
                    <a:solidFill>
                      <a:srgbClr val="0F172A"/>
                    </a:solidFill>
                  </a:tcPr>
                </a:tc>
                <a:tc>
                  <a:txBody>
                    <a:bodyPr lIns="109728" rIns="109728" tIns="54864" bIns="54864"/>
                    <a:lstStyle/>
                    <a:p>
                      <a:pPr>
                        <a:defRPr sz="1100" b="1">
                          <a:solidFill>
                            <a:srgbClr val="FFFFFF"/>
                          </a:solidFill>
                        </a:defRPr>
                      </a:pPr>
                      <a:r>
                        <a:t>Version</a:t>
                      </a:r>
                    </a:p>
                  </a:txBody>
                  <a:tcPr anchor="ctr">
                    <a:solidFill>
                      <a:srgbClr val="0F172A"/>
                    </a:solidFill>
                  </a:tcPr>
                </a:tc>
                <a:tc>
                  <a:txBody>
                    <a:bodyPr lIns="109728" rIns="109728" tIns="54864" bIns="54864"/>
                    <a:lstStyle/>
                    <a:p>
                      <a:pPr>
                        <a:defRPr sz="1100" b="1">
                          <a:solidFill>
                            <a:srgbClr val="FFFFFF"/>
                          </a:solidFill>
                        </a:defRPr>
                      </a:pPr>
                      <a:r>
                        <a:t>Key Responsibilities</a:t>
                      </a:r>
                    </a:p>
                  </a:txBody>
                  <a:tcPr anchor="ctr">
                    <a:solidFill>
                      <a:srgbClr val="0F172A"/>
                    </a:solidFill>
                  </a:tcPr>
                </a:tc>
              </a:tr>
              <a:tr h="484632">
                <a:tc>
                  <a:txBody>
                    <a:bodyPr lIns="109728" rIns="109728" tIns="54864" bIns="54864"/>
                    <a:lstStyle/>
                    <a:p>
                      <a:pPr>
                        <a:defRPr sz="1050" b="1">
                          <a:solidFill>
                            <a:srgbClr val="0F172A"/>
                          </a:solidFill>
                        </a:defRPr>
                      </a:pPr>
                      <a:r>
                        <a:t>Blockchain Core</a:t>
                      </a:r>
                    </a:p>
                  </a:txBody>
                  <a:tcPr anchor="ctr">
                    <a:solidFill>
                      <a:srgbClr val="FFFFFF"/>
                    </a:solidFill>
                  </a:tcPr>
                </a:tc>
                <a:tc>
                  <a:txBody>
                    <a:bodyPr lIns="109728" rIns="109728" tIns="54864" bIns="54864"/>
                    <a:lstStyle/>
                    <a:p>
                      <a:pPr>
                        <a:defRPr sz="1050">
                          <a:solidFill>
                            <a:srgbClr val="0F172A"/>
                          </a:solidFill>
                        </a:defRPr>
                      </a:pPr>
                      <a:r>
                        <a:t>Solidity</a:t>
                      </a:r>
                    </a:p>
                  </a:txBody>
                  <a:tcPr anchor="ctr">
                    <a:solidFill>
                      <a:srgbClr val="FFFFFF"/>
                    </a:solidFill>
                  </a:tcPr>
                </a:tc>
                <a:tc>
                  <a:txBody>
                    <a:bodyPr lIns="109728" rIns="109728" tIns="54864" bIns="54864"/>
                    <a:lstStyle/>
                    <a:p>
                      <a:pPr>
                        <a:defRPr sz="1050">
                          <a:solidFill>
                            <a:srgbClr val="334155"/>
                          </a:solidFill>
                        </a:defRPr>
                      </a:pPr>
                      <a:r>
                        <a:t>^0.8.20</a:t>
                      </a:r>
                    </a:p>
                  </a:txBody>
                  <a:tcPr anchor="ctr">
                    <a:solidFill>
                      <a:srgbClr val="FFFFFF"/>
                    </a:solidFill>
                  </a:tcPr>
                </a:tc>
                <a:tc>
                  <a:txBody>
                    <a:bodyPr lIns="109728" rIns="109728" tIns="54864" bIns="54864"/>
                    <a:lstStyle/>
                    <a:p>
                      <a:pPr>
                        <a:defRPr sz="1050">
                          <a:solidFill>
                            <a:srgbClr val="334155"/>
                          </a:solidFill>
                        </a:defRPr>
                      </a:pPr>
                      <a:r>
                        <a:t>Smart contract registry, access control, revocation state</a:t>
                      </a:r>
                    </a:p>
                  </a:txBody>
                  <a:tcPr anchor="ctr">
                    <a:solidFill>
                      <a:srgbClr val="FFFFFF"/>
                    </a:solidFill>
                  </a:tcPr>
                </a:tc>
              </a:tr>
              <a:tr h="484632">
                <a:tc>
                  <a:txBody>
                    <a:bodyPr lIns="109728" rIns="109728" tIns="54864" bIns="54864"/>
                    <a:lstStyle/>
                    <a:p>
                      <a:pPr>
                        <a:defRPr sz="1050" b="1">
                          <a:solidFill>
                            <a:srgbClr val="0F172A"/>
                          </a:solidFill>
                        </a:defRPr>
                      </a:pPr>
                      <a:r>
                        <a:t>EVM Development</a:t>
                      </a:r>
                    </a:p>
                  </a:txBody>
                  <a:tcPr anchor="ctr">
                    <a:solidFill>
                      <a:srgbClr val="F1F5F9"/>
                    </a:solidFill>
                  </a:tcPr>
                </a:tc>
                <a:tc>
                  <a:txBody>
                    <a:bodyPr lIns="109728" rIns="109728" tIns="54864" bIns="54864"/>
                    <a:lstStyle/>
                    <a:p>
                      <a:pPr>
                        <a:defRPr sz="1050">
                          <a:solidFill>
                            <a:srgbClr val="0F172A"/>
                          </a:solidFill>
                        </a:defRPr>
                      </a:pPr>
                      <a:r>
                        <a:t>Hardhat &amp; Ethers.js</a:t>
                      </a:r>
                    </a:p>
                  </a:txBody>
                  <a:tcPr anchor="ctr">
                    <a:solidFill>
                      <a:srgbClr val="F1F5F9"/>
                    </a:solidFill>
                  </a:tcPr>
                </a:tc>
                <a:tc>
                  <a:txBody>
                    <a:bodyPr lIns="109728" rIns="109728" tIns="54864" bIns="54864"/>
                    <a:lstStyle/>
                    <a:p>
                      <a:pPr>
                        <a:defRPr sz="1050">
                          <a:solidFill>
                            <a:srgbClr val="334155"/>
                          </a:solidFill>
                        </a:defRPr>
                      </a:pPr>
                      <a:r>
                        <a:t>v2.22 / v6</a:t>
                      </a:r>
                    </a:p>
                  </a:txBody>
                  <a:tcPr anchor="ctr">
                    <a:solidFill>
                      <a:srgbClr val="F1F5F9"/>
                    </a:solidFill>
                  </a:tcPr>
                </a:tc>
                <a:tc>
                  <a:txBody>
                    <a:bodyPr lIns="109728" rIns="109728" tIns="54864" bIns="54864"/>
                    <a:lstStyle/>
                    <a:p>
                      <a:pPr>
                        <a:defRPr sz="1050">
                          <a:solidFill>
                            <a:srgbClr val="334155"/>
                          </a:solidFill>
                        </a:defRPr>
                      </a:pPr>
                      <a:r>
                        <a:t>Local Ethereum node (port 8545), compilation, deployment scripts</a:t>
                      </a:r>
                    </a:p>
                  </a:txBody>
                  <a:tcPr anchor="ctr">
                    <a:solidFill>
                      <a:srgbClr val="F1F5F9"/>
                    </a:solidFill>
                  </a:tcPr>
                </a:tc>
              </a:tr>
              <a:tr h="484632">
                <a:tc>
                  <a:txBody>
                    <a:bodyPr lIns="109728" rIns="109728" tIns="54864" bIns="54864"/>
                    <a:lstStyle/>
                    <a:p>
                      <a:pPr>
                        <a:defRPr sz="1050" b="1">
                          <a:solidFill>
                            <a:srgbClr val="0F172A"/>
                          </a:solidFill>
                        </a:defRPr>
                      </a:pPr>
                      <a:r>
                        <a:t>Security Standards</a:t>
                      </a:r>
                    </a:p>
                  </a:txBody>
                  <a:tcPr anchor="ctr">
                    <a:solidFill>
                      <a:srgbClr val="FFFFFF"/>
                    </a:solidFill>
                  </a:tcPr>
                </a:tc>
                <a:tc>
                  <a:txBody>
                    <a:bodyPr lIns="109728" rIns="109728" tIns="54864" bIns="54864"/>
                    <a:lstStyle/>
                    <a:p>
                      <a:pPr>
                        <a:defRPr sz="1050">
                          <a:solidFill>
                            <a:srgbClr val="0F172A"/>
                          </a:solidFill>
                        </a:defRPr>
                      </a:pPr>
                      <a:r>
                        <a:t>OpenZeppelin Contracts</a:t>
                      </a:r>
                    </a:p>
                  </a:txBody>
                  <a:tcPr anchor="ctr">
                    <a:solidFill>
                      <a:srgbClr val="FFFFFF"/>
                    </a:solidFill>
                  </a:tcPr>
                </a:tc>
                <a:tc>
                  <a:txBody>
                    <a:bodyPr lIns="109728" rIns="109728" tIns="54864" bIns="54864"/>
                    <a:lstStyle/>
                    <a:p>
                      <a:pPr>
                        <a:defRPr sz="1050">
                          <a:solidFill>
                            <a:srgbClr val="334155"/>
                          </a:solidFill>
                        </a:defRPr>
                      </a:pPr>
                      <a:r>
                        <a:t>v5.0.0</a:t>
                      </a:r>
                    </a:p>
                  </a:txBody>
                  <a:tcPr anchor="ctr">
                    <a:solidFill>
                      <a:srgbClr val="FFFFFF"/>
                    </a:solidFill>
                  </a:tcPr>
                </a:tc>
                <a:tc>
                  <a:txBody>
                    <a:bodyPr lIns="109728" rIns="109728" tIns="54864" bIns="54864"/>
                    <a:lstStyle/>
                    <a:p>
                      <a:pPr>
                        <a:defRPr sz="1050">
                          <a:solidFill>
                            <a:srgbClr val="334155"/>
                          </a:solidFill>
                        </a:defRPr>
                      </a:pPr>
                      <a:r>
                        <a:t>Battle-tested Ownable and access control primitives</a:t>
                      </a:r>
                    </a:p>
                  </a:txBody>
                  <a:tcPr anchor="ctr">
                    <a:solidFill>
                      <a:srgbClr val="FFFFFF"/>
                    </a:solidFill>
                  </a:tcPr>
                </a:tc>
              </a:tr>
              <a:tr h="484632">
                <a:tc>
                  <a:txBody>
                    <a:bodyPr lIns="109728" rIns="109728" tIns="54864" bIns="54864"/>
                    <a:lstStyle/>
                    <a:p>
                      <a:pPr>
                        <a:defRPr sz="1050" b="1">
                          <a:solidFill>
                            <a:srgbClr val="0F172A"/>
                          </a:solidFill>
                        </a:defRPr>
                      </a:pPr>
                      <a:r>
                        <a:t>Backend Framework</a:t>
                      </a:r>
                    </a:p>
                  </a:txBody>
                  <a:tcPr anchor="ctr">
                    <a:solidFill>
                      <a:srgbClr val="F1F5F9"/>
                    </a:solidFill>
                  </a:tcPr>
                </a:tc>
                <a:tc>
                  <a:txBody>
                    <a:bodyPr lIns="109728" rIns="109728" tIns="54864" bIns="54864"/>
                    <a:lstStyle/>
                    <a:p>
                      <a:pPr>
                        <a:defRPr sz="1050">
                          <a:solidFill>
                            <a:srgbClr val="0F172A"/>
                          </a:solidFill>
                        </a:defRPr>
                      </a:pPr>
                      <a:r>
                        <a:t>Python &amp; FastAPI</a:t>
                      </a:r>
                    </a:p>
                  </a:txBody>
                  <a:tcPr anchor="ctr">
                    <a:solidFill>
                      <a:srgbClr val="F1F5F9"/>
                    </a:solidFill>
                  </a:tcPr>
                </a:tc>
                <a:tc>
                  <a:txBody>
                    <a:bodyPr lIns="109728" rIns="109728" tIns="54864" bIns="54864"/>
                    <a:lstStyle/>
                    <a:p>
                      <a:pPr>
                        <a:defRPr sz="1050">
                          <a:solidFill>
                            <a:srgbClr val="334155"/>
                          </a:solidFill>
                        </a:defRPr>
                      </a:pPr>
                      <a:r>
                        <a:t>v3.10+ / 0.110+</a:t>
                      </a:r>
                    </a:p>
                  </a:txBody>
                  <a:tcPr anchor="ctr">
                    <a:solidFill>
                      <a:srgbClr val="F1F5F9"/>
                    </a:solidFill>
                  </a:tcPr>
                </a:tc>
                <a:tc>
                  <a:txBody>
                    <a:bodyPr lIns="109728" rIns="109728" tIns="54864" bIns="54864"/>
                    <a:lstStyle/>
                    <a:p>
                      <a:pPr>
                        <a:defRPr sz="1050">
                          <a:solidFill>
                            <a:srgbClr val="334155"/>
                          </a:solidFill>
                        </a:defRPr>
                      </a:pPr>
                      <a:r>
                        <a:t>High-speed asynchronous REST API, OpenAPI docs, routing</a:t>
                      </a:r>
                    </a:p>
                  </a:txBody>
                  <a:tcPr anchor="ctr">
                    <a:solidFill>
                      <a:srgbClr val="F1F5F9"/>
                    </a:solidFill>
                  </a:tcPr>
                </a:tc>
              </a:tr>
              <a:tr h="484632">
                <a:tc>
                  <a:txBody>
                    <a:bodyPr lIns="109728" rIns="109728" tIns="54864" bIns="54864"/>
                    <a:lstStyle/>
                    <a:p>
                      <a:pPr>
                        <a:defRPr sz="1050" b="1">
                          <a:solidFill>
                            <a:srgbClr val="0F172A"/>
                          </a:solidFill>
                        </a:defRPr>
                      </a:pPr>
                      <a:r>
                        <a:t>Web3 Client</a:t>
                      </a:r>
                    </a:p>
                  </a:txBody>
                  <a:tcPr anchor="ctr">
                    <a:solidFill>
                      <a:srgbClr val="FFFFFF"/>
                    </a:solidFill>
                  </a:tcPr>
                </a:tc>
                <a:tc>
                  <a:txBody>
                    <a:bodyPr lIns="109728" rIns="109728" tIns="54864" bIns="54864"/>
                    <a:lstStyle/>
                    <a:p>
                      <a:pPr>
                        <a:defRPr sz="1050">
                          <a:solidFill>
                            <a:srgbClr val="0F172A"/>
                          </a:solidFill>
                        </a:defRPr>
                      </a:pPr>
                      <a:r>
                        <a:t>Web3.py</a:t>
                      </a:r>
                    </a:p>
                  </a:txBody>
                  <a:tcPr anchor="ctr">
                    <a:solidFill>
                      <a:srgbClr val="FFFFFF"/>
                    </a:solidFill>
                  </a:tcPr>
                </a:tc>
                <a:tc>
                  <a:txBody>
                    <a:bodyPr lIns="109728" rIns="109728" tIns="54864" bIns="54864"/>
                    <a:lstStyle/>
                    <a:p>
                      <a:pPr>
                        <a:defRPr sz="1050">
                          <a:solidFill>
                            <a:srgbClr val="334155"/>
                          </a:solidFill>
                        </a:defRPr>
                      </a:pPr>
                      <a:r>
                        <a:t>v6.15+</a:t>
                      </a:r>
                    </a:p>
                  </a:txBody>
                  <a:tcPr anchor="ctr">
                    <a:solidFill>
                      <a:srgbClr val="FFFFFF"/>
                    </a:solidFill>
                  </a:tcPr>
                </a:tc>
                <a:tc>
                  <a:txBody>
                    <a:bodyPr lIns="109728" rIns="109728" tIns="54864" bIns="54864"/>
                    <a:lstStyle/>
                    <a:p>
                      <a:pPr>
                        <a:defRPr sz="1050">
                          <a:solidFill>
                            <a:srgbClr val="334155"/>
                          </a:solidFill>
                        </a:defRPr>
                      </a:pPr>
                      <a:r>
                        <a:t>EVM RPC interface, raw transaction signing, event filtering</a:t>
                      </a:r>
                    </a:p>
                  </a:txBody>
                  <a:tcPr anchor="ctr">
                    <a:solidFill>
                      <a:srgbClr val="FFFFFF"/>
                    </a:solidFill>
                  </a:tcPr>
                </a:tc>
              </a:tr>
              <a:tr h="484632">
                <a:tc>
                  <a:txBody>
                    <a:bodyPr lIns="109728" rIns="109728" tIns="54864" bIns="54864"/>
                    <a:lstStyle/>
                    <a:p>
                      <a:pPr>
                        <a:defRPr sz="1050" b="1">
                          <a:solidFill>
                            <a:srgbClr val="0F172A"/>
                          </a:solidFill>
                        </a:defRPr>
                      </a:pPr>
                      <a:r>
                        <a:t>PDF Vector Engine</a:t>
                      </a:r>
                    </a:p>
                  </a:txBody>
                  <a:tcPr anchor="ctr">
                    <a:solidFill>
                      <a:srgbClr val="F1F5F9"/>
                    </a:solidFill>
                  </a:tcPr>
                </a:tc>
                <a:tc>
                  <a:txBody>
                    <a:bodyPr lIns="109728" rIns="109728" tIns="54864" bIns="54864"/>
                    <a:lstStyle/>
                    <a:p>
                      <a:pPr>
                        <a:defRPr sz="1050">
                          <a:solidFill>
                            <a:srgbClr val="0F172A"/>
                          </a:solidFill>
                        </a:defRPr>
                      </a:pPr>
                      <a:r>
                        <a:t>ReportLab</a:t>
                      </a:r>
                    </a:p>
                  </a:txBody>
                  <a:tcPr anchor="ctr">
                    <a:solidFill>
                      <a:srgbClr val="F1F5F9"/>
                    </a:solidFill>
                  </a:tcPr>
                </a:tc>
                <a:tc>
                  <a:txBody>
                    <a:bodyPr lIns="109728" rIns="109728" tIns="54864" bIns="54864"/>
                    <a:lstStyle/>
                    <a:p>
                      <a:pPr>
                        <a:defRPr sz="1050">
                          <a:solidFill>
                            <a:srgbClr val="334155"/>
                          </a:solidFill>
                        </a:defRPr>
                      </a:pPr>
                      <a:r>
                        <a:t>v4.1+</a:t>
                      </a:r>
                    </a:p>
                  </a:txBody>
                  <a:tcPr anchor="ctr">
                    <a:solidFill>
                      <a:srgbClr val="F1F5F9"/>
                    </a:solidFill>
                  </a:tcPr>
                </a:tc>
                <a:tc>
                  <a:txBody>
                    <a:bodyPr lIns="109728" rIns="109728" tIns="54864" bIns="54864"/>
                    <a:lstStyle/>
                    <a:p>
                      <a:pPr>
                        <a:defRPr sz="1050">
                          <a:solidFill>
                            <a:srgbClr val="334155"/>
                          </a:solidFill>
                        </a:defRPr>
                      </a:pPr>
                      <a:r>
                        <a:t>Deterministic coordinate-based diploma rendering &amp; guilloche borders</a:t>
                      </a:r>
                    </a:p>
                  </a:txBody>
                  <a:tcPr anchor="ctr">
                    <a:solidFill>
                      <a:srgbClr val="F1F5F9"/>
                    </a:solidFill>
                  </a:tcPr>
                </a:tc>
              </a:tr>
              <a:tr h="484632">
                <a:tc>
                  <a:txBody>
                    <a:bodyPr lIns="109728" rIns="109728" tIns="54864" bIns="54864"/>
                    <a:lstStyle/>
                    <a:p>
                      <a:pPr>
                        <a:defRPr sz="1050" b="1">
                          <a:solidFill>
                            <a:srgbClr val="0F172A"/>
                          </a:solidFill>
                        </a:defRPr>
                      </a:pPr>
                      <a:r>
                        <a:t>Database &amp; ORM</a:t>
                      </a:r>
                    </a:p>
                  </a:txBody>
                  <a:tcPr anchor="ctr">
                    <a:solidFill>
                      <a:srgbClr val="FFFFFF"/>
                    </a:solidFill>
                  </a:tcPr>
                </a:tc>
                <a:tc>
                  <a:txBody>
                    <a:bodyPr lIns="109728" rIns="109728" tIns="54864" bIns="54864"/>
                    <a:lstStyle/>
                    <a:p>
                      <a:pPr>
                        <a:defRPr sz="1050">
                          <a:solidFill>
                            <a:srgbClr val="0F172A"/>
                          </a:solidFill>
                        </a:defRPr>
                      </a:pPr>
                      <a:r>
                        <a:t>SQLAlchemy + SQLite/Postgres</a:t>
                      </a:r>
                    </a:p>
                  </a:txBody>
                  <a:tcPr anchor="ctr">
                    <a:solidFill>
                      <a:srgbClr val="FFFFFF"/>
                    </a:solidFill>
                  </a:tcPr>
                </a:tc>
                <a:tc>
                  <a:txBody>
                    <a:bodyPr lIns="109728" rIns="109728" tIns="54864" bIns="54864"/>
                    <a:lstStyle/>
                    <a:p>
                      <a:pPr>
                        <a:defRPr sz="1050">
                          <a:solidFill>
                            <a:srgbClr val="334155"/>
                          </a:solidFill>
                        </a:defRPr>
                      </a:pPr>
                      <a:r>
                        <a:t>v2.0+</a:t>
                      </a:r>
                    </a:p>
                  </a:txBody>
                  <a:tcPr anchor="ctr">
                    <a:solidFill>
                      <a:srgbClr val="FFFFFF"/>
                    </a:solidFill>
                  </a:tcPr>
                </a:tc>
                <a:tc>
                  <a:txBody>
                    <a:bodyPr lIns="109728" rIns="109728" tIns="54864" bIns="54864"/>
                    <a:lstStyle/>
                    <a:p>
                      <a:pPr>
                        <a:defRPr sz="1050">
                          <a:solidFill>
                            <a:srgbClr val="334155"/>
                          </a:solidFill>
                        </a:defRPr>
                      </a:pPr>
                      <a:r>
                        <a:t>Relational metadata storage, institution auth, transaction receipts</a:t>
                      </a:r>
                    </a:p>
                  </a:txBody>
                  <a:tcPr anchor="ctr">
                    <a:solidFill>
                      <a:srgbClr val="FFFFFF"/>
                    </a:solidFill>
                  </a:tcPr>
                </a:tc>
              </a:tr>
              <a:tr h="484632">
                <a:tc>
                  <a:txBody>
                    <a:bodyPr lIns="109728" rIns="109728" tIns="54864" bIns="54864"/>
                    <a:lstStyle/>
                    <a:p>
                      <a:pPr>
                        <a:defRPr sz="1050" b="1">
                          <a:solidFill>
                            <a:srgbClr val="0F172A"/>
                          </a:solidFill>
                        </a:defRPr>
                      </a:pPr>
                      <a:r>
                        <a:t>Frontend UI</a:t>
                      </a:r>
                    </a:p>
                  </a:txBody>
                  <a:tcPr anchor="ctr">
                    <a:solidFill>
                      <a:srgbClr val="F1F5F9"/>
                    </a:solidFill>
                  </a:tcPr>
                </a:tc>
                <a:tc>
                  <a:txBody>
                    <a:bodyPr lIns="109728" rIns="109728" tIns="54864" bIns="54864"/>
                    <a:lstStyle/>
                    <a:p>
                      <a:pPr>
                        <a:defRPr sz="1050">
                          <a:solidFill>
                            <a:srgbClr val="0F172A"/>
                          </a:solidFill>
                        </a:defRPr>
                      </a:pPr>
                      <a:r>
                        <a:t>React 18 &amp; Vite</a:t>
                      </a:r>
                    </a:p>
                  </a:txBody>
                  <a:tcPr anchor="ctr">
                    <a:solidFill>
                      <a:srgbClr val="F1F5F9"/>
                    </a:solidFill>
                  </a:tcPr>
                </a:tc>
                <a:tc>
                  <a:txBody>
                    <a:bodyPr lIns="109728" rIns="109728" tIns="54864" bIns="54864"/>
                    <a:lstStyle/>
                    <a:p>
                      <a:pPr>
                        <a:defRPr sz="1050">
                          <a:solidFill>
                            <a:srgbClr val="334155"/>
                          </a:solidFill>
                        </a:defRPr>
                      </a:pPr>
                      <a:r>
                        <a:t>v18.2 / v5</a:t>
                      </a:r>
                    </a:p>
                  </a:txBody>
                  <a:tcPr anchor="ctr">
                    <a:solidFill>
                      <a:srgbClr val="F1F5F9"/>
                    </a:solidFill>
                  </a:tcPr>
                </a:tc>
                <a:tc>
                  <a:txBody>
                    <a:bodyPr lIns="109728" rIns="109728" tIns="54864" bIns="54864"/>
                    <a:lstStyle/>
                    <a:p>
                      <a:pPr>
                        <a:defRPr sz="1050">
                          <a:solidFill>
                            <a:srgbClr val="334155"/>
                          </a:solidFill>
                        </a:defRPr>
                      </a:pPr>
                      <a:r>
                        <a:t>Component-based SPA, client dropzone, route guards</a:t>
                      </a:r>
                    </a:p>
                  </a:txBody>
                  <a:tcPr anchor="ctr">
                    <a:solidFill>
                      <a:srgbClr val="F1F5F9"/>
                    </a:solidFill>
                  </a:tcPr>
                </a:tc>
              </a:tr>
              <a:tr h="484632">
                <a:tc>
                  <a:txBody>
                    <a:bodyPr lIns="109728" rIns="109728" tIns="54864" bIns="54864"/>
                    <a:lstStyle/>
                    <a:p>
                      <a:pPr>
                        <a:defRPr sz="1050" b="1">
                          <a:solidFill>
                            <a:srgbClr val="0F172A"/>
                          </a:solidFill>
                        </a:defRPr>
                      </a:pPr>
                      <a:r>
                        <a:t>Styling &amp; Icons</a:t>
                      </a:r>
                    </a:p>
                  </a:txBody>
                  <a:tcPr anchor="ctr">
                    <a:solidFill>
                      <a:srgbClr val="FFFFFF"/>
                    </a:solidFill>
                  </a:tcPr>
                </a:tc>
                <a:tc>
                  <a:txBody>
                    <a:bodyPr lIns="109728" rIns="109728" tIns="54864" bIns="54864"/>
                    <a:lstStyle/>
                    <a:p>
                      <a:pPr>
                        <a:defRPr sz="1050">
                          <a:solidFill>
                            <a:srgbClr val="0F172A"/>
                          </a:solidFill>
                        </a:defRPr>
                      </a:pPr>
                      <a:r>
                        <a:t>Tailwind CSS &amp; Lucide React</a:t>
                      </a:r>
                    </a:p>
                  </a:txBody>
                  <a:tcPr anchor="ctr">
                    <a:solidFill>
                      <a:srgbClr val="FFFFFF"/>
                    </a:solidFill>
                  </a:tcPr>
                </a:tc>
                <a:tc>
                  <a:txBody>
                    <a:bodyPr lIns="109728" rIns="109728" tIns="54864" bIns="54864"/>
                    <a:lstStyle/>
                    <a:p>
                      <a:pPr>
                        <a:defRPr sz="1050">
                          <a:solidFill>
                            <a:srgbClr val="334155"/>
                          </a:solidFill>
                        </a:defRPr>
                      </a:pPr>
                      <a:r>
                        <a:t>v3.4+</a:t>
                      </a:r>
                    </a:p>
                  </a:txBody>
                  <a:tcPr anchor="ctr">
                    <a:solidFill>
                      <a:srgbClr val="FFFFFF"/>
                    </a:solidFill>
                  </a:tcPr>
                </a:tc>
                <a:tc>
                  <a:txBody>
                    <a:bodyPr lIns="109728" rIns="109728" tIns="54864" bIns="54864"/>
                    <a:lstStyle/>
                    <a:p>
                      <a:pPr>
                        <a:defRPr sz="1050">
                          <a:solidFill>
                            <a:srgbClr val="334155"/>
                          </a:solidFill>
                        </a:defRPr>
                      </a:pPr>
                      <a:r>
                        <a:t>Responsive styling, modern glassmorphic dashboard aesthetic</a:t>
                      </a:r>
                    </a:p>
                  </a:txBody>
                  <a:tcPr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ACADEMIC PROJECT DEFENSE • BLOCKCHAIN VERIFICATION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Testing Strategy: 100% Automated Test Passing &amp; E2E Validation</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3401568" cy="201168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2800" b="1">
                <a:solidFill>
                  <a:srgbClr val="065F46"/>
                </a:solidFill>
              </a:defRPr>
            </a:pPr>
            <a:r>
              <a:t>17 / 17 PASSING</a:t>
            </a:r>
          </a:p>
          <a:p>
            <a:pPr>
              <a:defRPr sz="1200" b="1">
                <a:solidFill>
                  <a:srgbClr val="0F172A"/>
                </a:solidFill>
              </a:defRPr>
            </a:pPr>
            <a:r>
              <a:t>Smart Contract Mocha/Chai Tests</a:t>
            </a:r>
          </a:p>
          <a:p>
            <a:pPr>
              <a:spcBef>
                <a:spcPts val="400"/>
              </a:spcBef>
              <a:defRPr sz="950">
                <a:solidFill>
                  <a:srgbClr val="334155"/>
                </a:solidFill>
              </a:defRPr>
            </a:pPr>
            <a:r>
              <a:t>Validates issuer authorization, minting idempotency, zero-gas queries, revocation security, and custom error reverts.</a:t>
            </a:r>
          </a:p>
        </p:txBody>
      </p:sp>
      <p:sp>
        <p:nvSpPr>
          <p:cNvPr id="7" name="Rounded Rectangle 6"/>
          <p:cNvSpPr/>
          <p:nvPr/>
        </p:nvSpPr>
        <p:spPr>
          <a:xfrm>
            <a:off x="4389120" y="1508760"/>
            <a:ext cx="3401568" cy="20116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2800" b="1">
                <a:solidFill>
                  <a:srgbClr val="2563EB"/>
                </a:solidFill>
              </a:defRPr>
            </a:pPr>
            <a:r>
              <a:t>12 / 12 PASSING</a:t>
            </a:r>
          </a:p>
          <a:p>
            <a:pPr>
              <a:defRPr sz="1200" b="1">
                <a:solidFill>
                  <a:srgbClr val="0F172A"/>
                </a:solidFill>
              </a:defRPr>
            </a:pPr>
            <a:r>
              <a:t>Backend Pytest Integration Suite</a:t>
            </a:r>
          </a:p>
          <a:p>
            <a:pPr>
              <a:spcBef>
                <a:spcPts val="400"/>
              </a:spcBef>
              <a:defRPr sz="950">
                <a:solidFill>
                  <a:srgbClr val="334155"/>
                </a:solidFill>
              </a:defRPr>
            </a:pPr>
            <a:r>
              <a:t>Validates FastAPI endpoints, JWT auth, ReportLab PDF rendering consistency, SHA-256 byte hashing, and database transactions.</a:t>
            </a:r>
          </a:p>
        </p:txBody>
      </p:sp>
      <p:sp>
        <p:nvSpPr>
          <p:cNvPr id="8" name="Rounded Rectangle 7"/>
          <p:cNvSpPr/>
          <p:nvPr/>
        </p:nvSpPr>
        <p:spPr>
          <a:xfrm>
            <a:off x="8046720" y="1508760"/>
            <a:ext cx="3401568" cy="2011680"/>
          </a:xfrm>
          <a:prstGeom prst="roundRect">
            <a:avLst/>
          </a:prstGeom>
          <a:solidFill>
            <a:srgbClr val="F5F3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2800" b="1">
                <a:solidFill>
                  <a:srgbClr val="4F46E5"/>
                </a:solidFill>
              </a:defRPr>
            </a:pPr>
            <a:r>
              <a:t>11 STAGES</a:t>
            </a:r>
          </a:p>
          <a:p>
            <a:pPr>
              <a:defRPr sz="1200" b="1">
                <a:solidFill>
                  <a:srgbClr val="0F172A"/>
                </a:solidFill>
              </a:defRPr>
            </a:pPr>
            <a:r>
              <a:t>End-to-End Live Integration Demo</a:t>
            </a:r>
          </a:p>
          <a:p>
            <a:pPr>
              <a:spcBef>
                <a:spcPts val="400"/>
              </a:spcBef>
              <a:defRPr sz="950">
                <a:solidFill>
                  <a:srgbClr val="334155"/>
                </a:solidFill>
              </a:defRPr>
            </a:pPr>
            <a:r>
              <a:t>Autonomous script (e2e_demo.py) running all 11 lifecycle stages on the live blockchain with automated verification.</a:t>
            </a:r>
          </a:p>
        </p:txBody>
      </p:sp>
      <p:sp>
        <p:nvSpPr>
          <p:cNvPr id="9" name="Rounded Rectangle 8"/>
          <p:cNvSpPr/>
          <p:nvPr/>
        </p:nvSpPr>
        <p:spPr>
          <a:xfrm>
            <a:off x="731520" y="3749039"/>
            <a:ext cx="10728655"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0F172A"/>
                </a:solidFill>
              </a:defRPr>
            </a:pPr>
            <a:r>
              <a:t>📋 Automated 11-Stage End-to-End Lifecycle Execution (scripts/e2e_demo.py)</a:t>
            </a:r>
          </a:p>
          <a:p>
            <a:pPr>
              <a:spcBef>
                <a:spcPts val="150"/>
              </a:spcBef>
              <a:defRPr sz="950">
                <a:solidFill>
                  <a:srgbClr val="334155"/>
                </a:solidFill>
              </a:defRPr>
            </a:pPr>
            <a:r>
              <a:t>✔ 1. Blockchain Connectivity: Verifies EVM JSON-RPC connection &amp; deployed contract address.</a:t>
            </a:r>
          </a:p>
          <a:p>
            <a:pPr>
              <a:spcBef>
                <a:spcPts val="150"/>
              </a:spcBef>
              <a:defRPr sz="950">
                <a:solidFill>
                  <a:srgbClr val="334155"/>
                </a:solidFill>
              </a:defRPr>
            </a:pPr>
            <a:r>
              <a:t>✔ 2. Admin Authentication: Logs in university registrar and acquires Bearer JWT token.</a:t>
            </a:r>
          </a:p>
          <a:p>
            <a:pPr>
              <a:spcBef>
                <a:spcPts val="150"/>
              </a:spcBef>
              <a:defRPr sz="950">
                <a:solidFill>
                  <a:srgbClr val="334155"/>
                </a:solidFill>
              </a:defRPr>
            </a:pPr>
            <a:r>
              <a:t>✔ 3. Certificate Issuance: Renders canonical diploma, hashes SHA-256, and mines mint transaction.</a:t>
            </a:r>
          </a:p>
          <a:p>
            <a:pPr>
              <a:spcBef>
                <a:spcPts val="150"/>
              </a:spcBef>
              <a:defRPr sz="950">
                <a:solidFill>
                  <a:srgbClr val="334155"/>
                </a:solidFill>
              </a:defRPr>
            </a:pPr>
            <a:r>
              <a:t>✔ 4. PDF Retrieval: Downloads canonical generated PDF file from backend repository.</a:t>
            </a:r>
          </a:p>
          <a:p>
            <a:pPr>
              <a:spcBef>
                <a:spcPts val="150"/>
              </a:spcBef>
              <a:defRPr sz="950">
                <a:solidFill>
                  <a:srgbClr val="334155"/>
                </a:solidFill>
              </a:defRPr>
            </a:pPr>
            <a:r>
              <a:t>✔ 5. Verification by ID: Smart contract view call confirms valid on-chain record.</a:t>
            </a:r>
          </a:p>
          <a:p>
            <a:pPr>
              <a:spcBef>
                <a:spcPts val="150"/>
              </a:spcBef>
              <a:defRPr sz="950">
                <a:solidFill>
                  <a:srgbClr val="334155"/>
                </a:solidFill>
              </a:defRPr>
            </a:pPr>
            <a:r>
              <a:t>✔ 6. Verification by PDF: Uploaded PDF hash matches blockchain digest exactly.</a:t>
            </a:r>
          </a:p>
          <a:p>
            <a:pPr>
              <a:spcBef>
                <a:spcPts val="150"/>
              </a:spcBef>
              <a:defRPr sz="950">
                <a:solidFill>
                  <a:srgbClr val="334155"/>
                </a:solidFill>
              </a:defRPr>
            </a:pPr>
            <a:r>
              <a:t>✔ 7. Live Tamper Simulation: Injects 10 corrupted bytes into PDF; system correctly flags TAMPERED.</a:t>
            </a:r>
          </a:p>
          <a:p>
            <a:pPr>
              <a:spcBef>
                <a:spcPts val="150"/>
              </a:spcBef>
              <a:defRPr sz="950">
                <a:solidFill>
                  <a:srgbClr val="334155"/>
                </a:solidFill>
              </a:defRPr>
            </a:pPr>
            <a:r>
              <a:t>✔ 8. On-Chain Revocation: Authorized institution wallet executes revokeCertificate() on EVM.</a:t>
            </a:r>
          </a:p>
          <a:p>
            <a:pPr>
              <a:spcBef>
                <a:spcPts val="150"/>
              </a:spcBef>
              <a:defRPr sz="950">
                <a:solidFill>
                  <a:srgbClr val="334155"/>
                </a:solidFill>
              </a:defRPr>
            </a:pPr>
            <a:r>
              <a:t>✔ 9. Post-Revocation Check: Verifier re-queries diploma; system authoritatively reports REVOKED.</a:t>
            </a:r>
          </a:p>
          <a:p>
            <a:pPr>
              <a:spcBef>
                <a:spcPts val="150"/>
              </a:spcBef>
              <a:defRPr sz="950">
                <a:solidFill>
                  <a:srgbClr val="334155"/>
                </a:solidFill>
              </a:defRPr>
            </a:pPr>
            <a:r>
              <a:t>✔ 10. Unknown Certificate Check: Queries non-existent ID; system cleanly returns NOT_FOUND.</a:t>
            </a:r>
          </a:p>
          <a:p>
            <a:pPr>
              <a:spcBef>
                <a:spcPts val="150"/>
              </a:spcBef>
              <a:defRPr sz="950">
                <a:solidFill>
                  <a:srgbClr val="334155"/>
                </a:solidFill>
              </a:defRPr>
            </a:pPr>
            <a:r>
              <a:t>✔ 11. Blockchain Explorer Inspector: Inspects block numbers, gas used, and transaction confirmation.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ACADEMIC PROJECT DEFENSE • BLOCKCHAIN VERIFICATION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Comparative Analysis: Traditional vs. Centralized vs. CertLedger</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508760"/>
          <a:ext cx="10728655" cy="4846320"/>
        </p:xfrm>
        <a:graphic>
          <a:graphicData uri="http://schemas.openxmlformats.org/drawingml/2006/table">
            <a:tbl>
              <a:tblPr firstRow="1" bandRow="1">
                <a:tableStyleId>{5C22544A-7EE6-4342-B048-85BDC9FD1C3A}</a:tableStyleId>
              </a:tblPr>
              <a:tblGrid>
                <a:gridCol w="2286000"/>
                <a:gridCol w="2011680"/>
                <a:gridCol w="2103120"/>
                <a:gridCol w="2011680"/>
                <a:gridCol w="2316175"/>
              </a:tblGrid>
              <a:tr h="605790">
                <a:tc>
                  <a:txBody>
                    <a:bodyPr tIns="54864" bIns="54864"/>
                    <a:lstStyle/>
                    <a:p>
                      <a:pPr>
                        <a:defRPr sz="1050" b="1">
                          <a:solidFill>
                            <a:srgbClr val="FFFFFF"/>
                          </a:solidFill>
                        </a:defRPr>
                      </a:pPr>
                      <a:r>
                        <a:t>Evaluation Dimension</a:t>
                      </a:r>
                    </a:p>
                  </a:txBody>
                  <a:tcPr anchor="ctr">
                    <a:solidFill>
                      <a:srgbClr val="0F172A"/>
                    </a:solidFill>
                  </a:tcPr>
                </a:tc>
                <a:tc>
                  <a:txBody>
                    <a:bodyPr tIns="54864" bIns="54864"/>
                    <a:lstStyle/>
                    <a:p>
                      <a:pPr>
                        <a:defRPr sz="1050" b="1">
                          <a:solidFill>
                            <a:srgbClr val="FFFFFF"/>
                          </a:solidFill>
                        </a:defRPr>
                      </a:pPr>
                      <a:r>
                        <a:t>Traditional Paper</a:t>
                      </a:r>
                    </a:p>
                  </a:txBody>
                  <a:tcPr anchor="ctr">
                    <a:solidFill>
                      <a:srgbClr val="0F172A"/>
                    </a:solidFill>
                  </a:tcPr>
                </a:tc>
                <a:tc>
                  <a:txBody>
                    <a:bodyPr tIns="54864" bIns="54864"/>
                    <a:lstStyle/>
                    <a:p>
                      <a:pPr>
                        <a:defRPr sz="1050" b="1">
                          <a:solidFill>
                            <a:srgbClr val="FFFFFF"/>
                          </a:solidFill>
                        </a:defRPr>
                      </a:pPr>
                      <a:r>
                        <a:t>Centralized SQL Portal</a:t>
                      </a:r>
                    </a:p>
                  </a:txBody>
                  <a:tcPr anchor="ctr">
                    <a:solidFill>
                      <a:srgbClr val="0F172A"/>
                    </a:solidFill>
                  </a:tcPr>
                </a:tc>
                <a:tc>
                  <a:txBody>
                    <a:bodyPr tIns="54864" bIns="54864"/>
                    <a:lstStyle/>
                    <a:p>
                      <a:pPr>
                        <a:defRPr sz="1050" b="1">
                          <a:solidFill>
                            <a:srgbClr val="FFFFFF"/>
                          </a:solidFill>
                        </a:defRPr>
                      </a:pPr>
                      <a:r>
                        <a:t>Naive Blockchain</a:t>
                      </a:r>
                    </a:p>
                  </a:txBody>
                  <a:tcPr anchor="ctr">
                    <a:solidFill>
                      <a:srgbClr val="0F172A"/>
                    </a:solidFill>
                  </a:tcPr>
                </a:tc>
                <a:tc>
                  <a:txBody>
                    <a:bodyPr tIns="54864" bIns="54864"/>
                    <a:lstStyle/>
                    <a:p>
                      <a:pPr>
                        <a:defRPr sz="1050" b="1">
                          <a:solidFill>
                            <a:srgbClr val="FFFFFF"/>
                          </a:solidFill>
                        </a:defRPr>
                      </a:pPr>
                      <a:r>
                        <a:t>CertLedger (Our System)</a:t>
                      </a:r>
                    </a:p>
                  </a:txBody>
                  <a:tcPr anchor="ctr">
                    <a:solidFill>
                      <a:srgbClr val="0F172A"/>
                    </a:solidFill>
                  </a:tcPr>
                </a:tc>
              </a:tr>
              <a:tr h="605790">
                <a:tc>
                  <a:txBody>
                    <a:bodyPr tIns="54864" bIns="54864"/>
                    <a:lstStyle/>
                    <a:p>
                      <a:pPr>
                        <a:defRPr sz="1000">
                          <a:solidFill>
                            <a:srgbClr val="0F172A"/>
                          </a:solidFill>
                        </a:defRPr>
                      </a:pPr>
                      <a:r>
                        <a:t>Trust Model</a:t>
                      </a:r>
                    </a:p>
                  </a:txBody>
                  <a:tcPr anchor="ctr">
                    <a:solidFill>
                      <a:srgbClr val="FFFFFF"/>
                    </a:solidFill>
                  </a:tcPr>
                </a:tc>
                <a:tc>
                  <a:txBody>
                    <a:bodyPr tIns="54864" bIns="54864"/>
                    <a:lstStyle/>
                    <a:p>
                      <a:pPr>
                        <a:defRPr sz="1000">
                          <a:solidFill>
                            <a:srgbClr val="334155"/>
                          </a:solidFill>
                        </a:defRPr>
                      </a:pPr>
                      <a:r>
                        <a:t>Institutional paper stamp</a:t>
                      </a:r>
                    </a:p>
                  </a:txBody>
                  <a:tcPr anchor="ctr">
                    <a:solidFill>
                      <a:srgbClr val="FFFFFF"/>
                    </a:solidFill>
                  </a:tcPr>
                </a:tc>
                <a:tc>
                  <a:txBody>
                    <a:bodyPr tIns="54864" bIns="54864"/>
                    <a:lstStyle/>
                    <a:p>
                      <a:pPr>
                        <a:defRPr sz="1000">
                          <a:solidFill>
                            <a:srgbClr val="334155"/>
                          </a:solidFill>
                        </a:defRPr>
                      </a:pPr>
                      <a:r>
                        <a:t>Trust in single server / DB admin</a:t>
                      </a:r>
                    </a:p>
                  </a:txBody>
                  <a:tcPr anchor="ctr">
                    <a:solidFill>
                      <a:srgbClr val="FFFFFF"/>
                    </a:solidFill>
                  </a:tcPr>
                </a:tc>
                <a:tc>
                  <a:txBody>
                    <a:bodyPr tIns="54864" bIns="54864"/>
                    <a:lstStyle/>
                    <a:p>
                      <a:pPr>
                        <a:defRPr sz="1000">
                          <a:solidFill>
                            <a:srgbClr val="334155"/>
                          </a:solidFill>
                        </a:defRPr>
                      </a:pPr>
                      <a:r>
                        <a:t>Consensus miners</a:t>
                      </a:r>
                    </a:p>
                  </a:txBody>
                  <a:tcPr anchor="ctr">
                    <a:solidFill>
                      <a:srgbClr val="FFFFFF"/>
                    </a:solidFill>
                  </a:tcPr>
                </a:tc>
                <a:tc>
                  <a:txBody>
                    <a:bodyPr tIns="54864" bIns="54864"/>
                    <a:lstStyle/>
                    <a:p>
                      <a:pPr>
                        <a:defRPr sz="1000" b="1">
                          <a:solidFill>
                            <a:srgbClr val="065F46"/>
                          </a:solidFill>
                        </a:defRPr>
                      </a:pPr>
                      <a:r>
                        <a:t>Decentralized EVM Consensus</a:t>
                      </a:r>
                    </a:p>
                  </a:txBody>
                  <a:tcPr anchor="ctr">
                    <a:solidFill>
                      <a:srgbClr val="ECFDF5"/>
                    </a:solidFill>
                  </a:tcPr>
                </a:tc>
              </a:tr>
              <a:tr h="605790">
                <a:tc>
                  <a:txBody>
                    <a:bodyPr tIns="54864" bIns="54864"/>
                    <a:lstStyle/>
                    <a:p>
                      <a:pPr>
                        <a:defRPr sz="1000">
                          <a:solidFill>
                            <a:srgbClr val="0F172A"/>
                          </a:solidFill>
                        </a:defRPr>
                      </a:pPr>
                      <a:r>
                        <a:t>Verification Speed</a:t>
                      </a:r>
                    </a:p>
                  </a:txBody>
                  <a:tcPr anchor="ctr">
                    <a:solidFill>
                      <a:srgbClr val="F8FAFC"/>
                    </a:solidFill>
                  </a:tcPr>
                </a:tc>
                <a:tc>
                  <a:txBody>
                    <a:bodyPr tIns="54864" bIns="54864"/>
                    <a:lstStyle/>
                    <a:p>
                      <a:pPr>
                        <a:defRPr sz="1000">
                          <a:solidFill>
                            <a:srgbClr val="334155"/>
                          </a:solidFill>
                        </a:defRPr>
                      </a:pPr>
                      <a:r>
                        <a:t>2 - 4 Weeks (Manual)</a:t>
                      </a:r>
                    </a:p>
                  </a:txBody>
                  <a:tcPr anchor="ctr">
                    <a:solidFill>
                      <a:srgbClr val="F8FAFC"/>
                    </a:solidFill>
                  </a:tcPr>
                </a:tc>
                <a:tc>
                  <a:txBody>
                    <a:bodyPr tIns="54864" bIns="54864"/>
                    <a:lstStyle/>
                    <a:p>
                      <a:pPr>
                        <a:defRPr sz="1000">
                          <a:solidFill>
                            <a:srgbClr val="334155"/>
                          </a:solidFill>
                        </a:defRPr>
                      </a:pPr>
                      <a:r>
                        <a:t>Minutes (Requires API/Login)</a:t>
                      </a:r>
                    </a:p>
                  </a:txBody>
                  <a:tcPr anchor="ctr">
                    <a:solidFill>
                      <a:srgbClr val="F8FAFC"/>
                    </a:solidFill>
                  </a:tcPr>
                </a:tc>
                <a:tc>
                  <a:txBody>
                    <a:bodyPr tIns="54864" bIns="54864"/>
                    <a:lstStyle/>
                    <a:p>
                      <a:pPr>
                        <a:defRPr sz="1000">
                          <a:solidFill>
                            <a:srgbClr val="334155"/>
                          </a:solidFill>
                        </a:defRPr>
                      </a:pPr>
                      <a:r>
                        <a:t>Seconds (Gas required)</a:t>
                      </a:r>
                    </a:p>
                  </a:txBody>
                  <a:tcPr anchor="ctr">
                    <a:solidFill>
                      <a:srgbClr val="F8FAFC"/>
                    </a:solidFill>
                  </a:tcPr>
                </a:tc>
                <a:tc>
                  <a:txBody>
                    <a:bodyPr tIns="54864" bIns="54864"/>
                    <a:lstStyle/>
                    <a:p>
                      <a:pPr>
                        <a:defRPr sz="1000" b="1">
                          <a:solidFill>
                            <a:srgbClr val="065F46"/>
                          </a:solidFill>
                        </a:defRPr>
                      </a:pPr>
                      <a:r>
                        <a:t>&lt; 2 Seconds (Instant &amp; Free)</a:t>
                      </a:r>
                    </a:p>
                  </a:txBody>
                  <a:tcPr anchor="ctr">
                    <a:solidFill>
                      <a:srgbClr val="ECFDF5"/>
                    </a:solidFill>
                  </a:tcPr>
                </a:tc>
              </a:tr>
              <a:tr h="605790">
                <a:tc>
                  <a:txBody>
                    <a:bodyPr tIns="54864" bIns="54864"/>
                    <a:lstStyle/>
                    <a:p>
                      <a:pPr>
                        <a:defRPr sz="1000">
                          <a:solidFill>
                            <a:srgbClr val="0F172A"/>
                          </a:solidFill>
                        </a:defRPr>
                      </a:pPr>
                      <a:r>
                        <a:t>Tamper Resistance</a:t>
                      </a:r>
                    </a:p>
                  </a:txBody>
                  <a:tcPr anchor="ctr">
                    <a:solidFill>
                      <a:srgbClr val="FFFFFF"/>
                    </a:solidFill>
                  </a:tcPr>
                </a:tc>
                <a:tc>
                  <a:txBody>
                    <a:bodyPr tIns="54864" bIns="54864"/>
                    <a:lstStyle/>
                    <a:p>
                      <a:pPr>
                        <a:defRPr sz="1000">
                          <a:solidFill>
                            <a:srgbClr val="334155"/>
                          </a:solidFill>
                        </a:defRPr>
                      </a:pPr>
                      <a:r>
                        <a:t>❌ Low (Photoshop forgery)</a:t>
                      </a:r>
                    </a:p>
                  </a:txBody>
                  <a:tcPr anchor="ctr">
                    <a:solidFill>
                      <a:srgbClr val="FFFFFF"/>
                    </a:solidFill>
                  </a:tcPr>
                </a:tc>
                <a:tc>
                  <a:txBody>
                    <a:bodyPr tIns="54864" bIns="54864"/>
                    <a:lstStyle/>
                    <a:p>
                      <a:pPr>
                        <a:defRPr sz="1000">
                          <a:solidFill>
                            <a:srgbClr val="334155"/>
                          </a:solidFill>
                        </a:defRPr>
                      </a:pPr>
                      <a:r>
                        <a:t>⚠️ Moderate (Insider DB edit)</a:t>
                      </a:r>
                    </a:p>
                  </a:txBody>
                  <a:tcPr anchor="ctr">
                    <a:solidFill>
                      <a:srgbClr val="FFFFFF"/>
                    </a:solidFill>
                  </a:tcPr>
                </a:tc>
                <a:tc>
                  <a:txBody>
                    <a:bodyPr tIns="54864" bIns="54864"/>
                    <a:lstStyle/>
                    <a:p>
                      <a:pPr>
                        <a:defRPr sz="1000">
                          <a:solidFill>
                            <a:srgbClr val="334155"/>
                          </a:solidFill>
                        </a:defRPr>
                      </a:pPr>
                      <a:r>
                        <a:t>✅ Immutable</a:t>
                      </a:r>
                    </a:p>
                  </a:txBody>
                  <a:tcPr anchor="ctr">
                    <a:solidFill>
                      <a:srgbClr val="FFFFFF"/>
                    </a:solidFill>
                  </a:tcPr>
                </a:tc>
                <a:tc>
                  <a:txBody>
                    <a:bodyPr tIns="54864" bIns="54864"/>
                    <a:lstStyle/>
                    <a:p>
                      <a:pPr>
                        <a:defRPr sz="1000" b="1">
                          <a:solidFill>
                            <a:srgbClr val="065F46"/>
                          </a:solidFill>
                        </a:defRPr>
                      </a:pPr>
                      <a:r>
                        <a:t>✅ 100% Tamper-Proof (SHA-256)</a:t>
                      </a:r>
                    </a:p>
                  </a:txBody>
                  <a:tcPr anchor="ctr">
                    <a:solidFill>
                      <a:srgbClr val="ECFDF5"/>
                    </a:solidFill>
                  </a:tcPr>
                </a:tc>
              </a:tr>
              <a:tr h="605790">
                <a:tc>
                  <a:txBody>
                    <a:bodyPr tIns="54864" bIns="54864"/>
                    <a:lstStyle/>
                    <a:p>
                      <a:pPr>
                        <a:defRPr sz="1000">
                          <a:solidFill>
                            <a:srgbClr val="0F172A"/>
                          </a:solidFill>
                        </a:defRPr>
                      </a:pPr>
                      <a:r>
                        <a:t>Privacy &amp; GDPR</a:t>
                      </a:r>
                    </a:p>
                  </a:txBody>
                  <a:tcPr anchor="ctr">
                    <a:solidFill>
                      <a:srgbClr val="F8FAFC"/>
                    </a:solidFill>
                  </a:tcPr>
                </a:tc>
                <a:tc>
                  <a:txBody>
                    <a:bodyPr tIns="54864" bIns="54864"/>
                    <a:lstStyle/>
                    <a:p>
                      <a:pPr>
                        <a:defRPr sz="1000">
                          <a:solidFill>
                            <a:srgbClr val="334155"/>
                          </a:solidFill>
                        </a:defRPr>
                      </a:pPr>
                      <a:r>
                        <a:t>⚠️ Paper records leaked</a:t>
                      </a:r>
                    </a:p>
                  </a:txBody>
                  <a:tcPr anchor="ctr">
                    <a:solidFill>
                      <a:srgbClr val="F8FAFC"/>
                    </a:solidFill>
                  </a:tcPr>
                </a:tc>
                <a:tc>
                  <a:txBody>
                    <a:bodyPr tIns="54864" bIns="54864"/>
                    <a:lstStyle/>
                    <a:p>
                      <a:pPr>
                        <a:defRPr sz="1000">
                          <a:solidFill>
                            <a:srgbClr val="334155"/>
                          </a:solidFill>
                        </a:defRPr>
                      </a:pPr>
                      <a:r>
                        <a:t>⚠️ Server breach risk</a:t>
                      </a:r>
                    </a:p>
                  </a:txBody>
                  <a:tcPr anchor="ctr">
                    <a:solidFill>
                      <a:srgbClr val="F8FAFC"/>
                    </a:solidFill>
                  </a:tcPr>
                </a:tc>
                <a:tc>
                  <a:txBody>
                    <a:bodyPr tIns="54864" bIns="54864"/>
                    <a:lstStyle/>
                    <a:p>
                      <a:pPr>
                        <a:defRPr sz="1000">
                          <a:solidFill>
                            <a:srgbClr val="334155"/>
                          </a:solidFill>
                        </a:defRPr>
                      </a:pPr>
                      <a:r>
                        <a:t>❌ VIOLATION (Data on-chain)</a:t>
                      </a:r>
                    </a:p>
                  </a:txBody>
                  <a:tcPr anchor="ctr">
                    <a:solidFill>
                      <a:srgbClr val="F8FAFC"/>
                    </a:solidFill>
                  </a:tcPr>
                </a:tc>
                <a:tc>
                  <a:txBody>
                    <a:bodyPr tIns="54864" bIns="54864"/>
                    <a:lstStyle/>
                    <a:p>
                      <a:pPr>
                        <a:defRPr sz="1000" b="1">
                          <a:solidFill>
                            <a:srgbClr val="065F46"/>
                          </a:solidFill>
                        </a:defRPr>
                      </a:pPr>
                      <a:r>
                        <a:t>✅ 100% Zero-PII Compliant</a:t>
                      </a:r>
                    </a:p>
                  </a:txBody>
                  <a:tcPr anchor="ctr">
                    <a:solidFill>
                      <a:srgbClr val="ECFDF5"/>
                    </a:solidFill>
                  </a:tcPr>
                </a:tc>
              </a:tr>
              <a:tr h="605790">
                <a:tc>
                  <a:txBody>
                    <a:bodyPr tIns="54864" bIns="54864"/>
                    <a:lstStyle/>
                    <a:p>
                      <a:pPr>
                        <a:defRPr sz="1000">
                          <a:solidFill>
                            <a:srgbClr val="0F172A"/>
                          </a:solidFill>
                        </a:defRPr>
                      </a:pPr>
                      <a:r>
                        <a:t>Revocation Support</a:t>
                      </a:r>
                    </a:p>
                  </a:txBody>
                  <a:tcPr anchor="ctr">
                    <a:solidFill>
                      <a:srgbClr val="FFFFFF"/>
                    </a:solidFill>
                  </a:tcPr>
                </a:tc>
                <a:tc>
                  <a:txBody>
                    <a:bodyPr tIns="54864" bIns="54864"/>
                    <a:lstStyle/>
                    <a:p>
                      <a:pPr>
                        <a:defRPr sz="1000">
                          <a:solidFill>
                            <a:srgbClr val="334155"/>
                          </a:solidFill>
                        </a:defRPr>
                      </a:pPr>
                      <a:r>
                        <a:t>❌ Impossible after print</a:t>
                      </a:r>
                    </a:p>
                  </a:txBody>
                  <a:tcPr anchor="ctr">
                    <a:solidFill>
                      <a:srgbClr val="FFFFFF"/>
                    </a:solidFill>
                  </a:tcPr>
                </a:tc>
                <a:tc>
                  <a:txBody>
                    <a:bodyPr tIns="54864" bIns="54864"/>
                    <a:lstStyle/>
                    <a:p>
                      <a:pPr>
                        <a:defRPr sz="1000">
                          <a:solidFill>
                            <a:srgbClr val="334155"/>
                          </a:solidFill>
                        </a:defRPr>
                      </a:pPr>
                      <a:r>
                        <a:t>✅ Mutable DB update</a:t>
                      </a:r>
                    </a:p>
                  </a:txBody>
                  <a:tcPr anchor="ctr">
                    <a:solidFill>
                      <a:srgbClr val="FFFFFF"/>
                    </a:solidFill>
                  </a:tcPr>
                </a:tc>
                <a:tc>
                  <a:txBody>
                    <a:bodyPr tIns="54864" bIns="54864"/>
                    <a:lstStyle/>
                    <a:p>
                      <a:pPr>
                        <a:defRPr sz="1000">
                          <a:solidFill>
                            <a:srgbClr val="334155"/>
                          </a:solidFill>
                        </a:defRPr>
                      </a:pPr>
                      <a:r>
                        <a:t>⚠️ Complex / Gas heavy</a:t>
                      </a:r>
                    </a:p>
                  </a:txBody>
                  <a:tcPr anchor="ctr">
                    <a:solidFill>
                      <a:srgbClr val="FFFFFF"/>
                    </a:solidFill>
                  </a:tcPr>
                </a:tc>
                <a:tc>
                  <a:txBody>
                    <a:bodyPr tIns="54864" bIns="54864"/>
                    <a:lstStyle/>
                    <a:p>
                      <a:pPr>
                        <a:defRPr sz="1000" b="1">
                          <a:solidFill>
                            <a:srgbClr val="065F46"/>
                          </a:solidFill>
                        </a:defRPr>
                      </a:pPr>
                      <a:r>
                        <a:t>✅ Instant On-Chain Revocation</a:t>
                      </a:r>
                    </a:p>
                  </a:txBody>
                  <a:tcPr anchor="ctr">
                    <a:solidFill>
                      <a:srgbClr val="ECFDF5"/>
                    </a:solidFill>
                  </a:tcPr>
                </a:tc>
              </a:tr>
              <a:tr h="605790">
                <a:tc>
                  <a:txBody>
                    <a:bodyPr tIns="54864" bIns="54864"/>
                    <a:lstStyle/>
                    <a:p>
                      <a:pPr>
                        <a:defRPr sz="1000">
                          <a:solidFill>
                            <a:srgbClr val="0F172A"/>
                          </a:solidFill>
                        </a:defRPr>
                      </a:pPr>
                      <a:r>
                        <a:t>Single Point of Failure</a:t>
                      </a:r>
                    </a:p>
                  </a:txBody>
                  <a:tcPr anchor="ctr">
                    <a:solidFill>
                      <a:srgbClr val="F8FAFC"/>
                    </a:solidFill>
                  </a:tcPr>
                </a:tc>
                <a:tc>
                  <a:txBody>
                    <a:bodyPr tIns="54864" bIns="54864"/>
                    <a:lstStyle/>
                    <a:p>
                      <a:pPr>
                        <a:defRPr sz="1000">
                          <a:solidFill>
                            <a:srgbClr val="334155"/>
                          </a:solidFill>
                        </a:defRPr>
                      </a:pPr>
                      <a:r>
                        <a:t>❌ University closure halts</a:t>
                      </a:r>
                    </a:p>
                  </a:txBody>
                  <a:tcPr anchor="ctr">
                    <a:solidFill>
                      <a:srgbClr val="F8FAFC"/>
                    </a:solidFill>
                  </a:tcPr>
                </a:tc>
                <a:tc>
                  <a:txBody>
                    <a:bodyPr tIns="54864" bIns="54864"/>
                    <a:lstStyle/>
                    <a:p>
                      <a:pPr>
                        <a:defRPr sz="1000">
                          <a:solidFill>
                            <a:srgbClr val="334155"/>
                          </a:solidFill>
                        </a:defRPr>
                      </a:pPr>
                      <a:r>
                        <a:t>❌ Server outage halts lookup</a:t>
                      </a:r>
                    </a:p>
                  </a:txBody>
                  <a:tcPr anchor="ctr">
                    <a:solidFill>
                      <a:srgbClr val="F8FAFC"/>
                    </a:solidFill>
                  </a:tcPr>
                </a:tc>
                <a:tc>
                  <a:txBody>
                    <a:bodyPr tIns="54864" bIns="54864"/>
                    <a:lstStyle/>
                    <a:p>
                      <a:pPr>
                        <a:defRPr sz="1000">
                          <a:solidFill>
                            <a:srgbClr val="334155"/>
                          </a:solidFill>
                        </a:defRPr>
                      </a:pPr>
                      <a:r>
                        <a:t>✅ Distributed ledger</a:t>
                      </a:r>
                    </a:p>
                  </a:txBody>
                  <a:tcPr anchor="ctr">
                    <a:solidFill>
                      <a:srgbClr val="F8FAFC"/>
                    </a:solidFill>
                  </a:tcPr>
                </a:tc>
                <a:tc>
                  <a:txBody>
                    <a:bodyPr tIns="54864" bIns="54864"/>
                    <a:lstStyle/>
                    <a:p>
                      <a:pPr>
                        <a:defRPr sz="1000" b="1">
                          <a:solidFill>
                            <a:srgbClr val="065F46"/>
                          </a:solidFill>
                        </a:defRPr>
                      </a:pPr>
                      <a:r>
                        <a:t>✅ Resilient Distributed Ledger</a:t>
                      </a:r>
                    </a:p>
                  </a:txBody>
                  <a:tcPr anchor="ctr">
                    <a:solidFill>
                      <a:srgbClr val="ECFDF5"/>
                    </a:solidFill>
                  </a:tcPr>
                </a:tc>
              </a:tr>
              <a:tr h="605790">
                <a:tc>
                  <a:txBody>
                    <a:bodyPr tIns="54864" bIns="54864"/>
                    <a:lstStyle/>
                    <a:p>
                      <a:pPr>
                        <a:defRPr sz="1000">
                          <a:solidFill>
                            <a:srgbClr val="0F172A"/>
                          </a:solidFill>
                        </a:defRPr>
                      </a:pPr>
                      <a:r>
                        <a:t>Verification Cost</a:t>
                      </a:r>
                    </a:p>
                  </a:txBody>
                  <a:tcPr anchor="ctr">
                    <a:solidFill>
                      <a:srgbClr val="FFFFFF"/>
                    </a:solidFill>
                  </a:tcPr>
                </a:tc>
                <a:tc>
                  <a:txBody>
                    <a:bodyPr tIns="54864" bIns="54864"/>
                    <a:lstStyle/>
                    <a:p>
                      <a:pPr>
                        <a:defRPr sz="1000">
                          <a:solidFill>
                            <a:srgbClr val="334155"/>
                          </a:solidFill>
                        </a:defRPr>
                      </a:pPr>
                      <a:r>
                        <a:t>High ($15 - $50 clearinghouse)</a:t>
                      </a:r>
                    </a:p>
                  </a:txBody>
                  <a:tcPr anchor="ctr">
                    <a:solidFill>
                      <a:srgbClr val="FFFFFF"/>
                    </a:solidFill>
                  </a:tcPr>
                </a:tc>
                <a:tc>
                  <a:txBody>
                    <a:bodyPr tIns="54864" bIns="54864"/>
                    <a:lstStyle/>
                    <a:p>
                      <a:pPr>
                        <a:defRPr sz="1000">
                          <a:solidFill>
                            <a:srgbClr val="334155"/>
                          </a:solidFill>
                        </a:defRPr>
                      </a:pPr>
                      <a:r>
                        <a:t>Subscription / Server hosting</a:t>
                      </a:r>
                    </a:p>
                  </a:txBody>
                  <a:tcPr anchor="ctr">
                    <a:solidFill>
                      <a:srgbClr val="FFFFFF"/>
                    </a:solidFill>
                  </a:tcPr>
                </a:tc>
                <a:tc>
                  <a:txBody>
                    <a:bodyPr tIns="54864" bIns="54864"/>
                    <a:lstStyle/>
                    <a:p>
                      <a:pPr>
                        <a:defRPr sz="1000">
                          <a:solidFill>
                            <a:srgbClr val="334155"/>
                          </a:solidFill>
                        </a:defRPr>
                      </a:pPr>
                      <a:r>
                        <a:t>Transaction Gas fee</a:t>
                      </a:r>
                    </a:p>
                  </a:txBody>
                  <a:tcPr anchor="ctr">
                    <a:solidFill>
                      <a:srgbClr val="FFFFFF"/>
                    </a:solidFill>
                  </a:tcPr>
                </a:tc>
                <a:tc>
                  <a:txBody>
                    <a:bodyPr tIns="54864" bIns="54864"/>
                    <a:lstStyle/>
                    <a:p>
                      <a:pPr>
                        <a:defRPr sz="1000" b="1">
                          <a:solidFill>
                            <a:srgbClr val="065F46"/>
                          </a:solidFill>
                        </a:defRPr>
                      </a:pPr>
                      <a:r>
                        <a:t>Free (0 Gas View Calls)</a:t>
                      </a:r>
                    </a:p>
                  </a:txBody>
                  <a:tcPr anchor="ctr">
                    <a:solidFill>
                      <a:srgbClr val="ECFDF5"/>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ACADEMIC PROJECT DEFENSE • BLOCKCHAIN VERIFICATION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Gas Economics &amp; Production Scaling: Layer-2 Networks</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2563EB"/>
                </a:solidFill>
              </a:defRPr>
            </a:pPr>
            <a:r>
              <a:t>⛽ On-Chain Gas Cost Analysis</a:t>
            </a:r>
          </a:p>
          <a:p>
            <a:pPr>
              <a:spcBef>
                <a:spcPts val="800"/>
              </a:spcBef>
              <a:defRPr sz="1100" b="1">
                <a:solidFill>
                  <a:srgbClr val="0F172A"/>
                </a:solidFill>
              </a:defRPr>
            </a:pPr>
            <a:r>
              <a:t>• Deployment Cost</a:t>
            </a:r>
          </a:p>
          <a:p>
            <a:pPr>
              <a:defRPr sz="1000">
                <a:solidFill>
                  <a:srgbClr val="334155"/>
                </a:solidFill>
              </a:defRPr>
            </a:pPr>
            <a:r>
              <a:t>   ~620,000 gas (one-time deployment of AcademicCertificateRegistry.sol).</a:t>
            </a:r>
          </a:p>
          <a:p>
            <a:pPr>
              <a:spcBef>
                <a:spcPts val="800"/>
              </a:spcBef>
              <a:defRPr sz="1100" b="1">
                <a:solidFill>
                  <a:srgbClr val="0F172A"/>
                </a:solidFill>
              </a:defRPr>
            </a:pPr>
            <a:r>
              <a:t>• Certificate Issuance</a:t>
            </a:r>
          </a:p>
          <a:p>
            <a:pPr>
              <a:defRPr sz="1000">
                <a:solidFill>
                  <a:srgbClr val="334155"/>
                </a:solidFill>
              </a:defRPr>
            </a:pPr>
            <a:r>
              <a:t>   ~85,000 gas per minted certificate (writing struct to mapping &amp; emitting event).</a:t>
            </a:r>
          </a:p>
          <a:p>
            <a:pPr>
              <a:spcBef>
                <a:spcPts val="800"/>
              </a:spcBef>
              <a:defRPr sz="1100" b="1">
                <a:solidFill>
                  <a:srgbClr val="0F172A"/>
                </a:solidFill>
              </a:defRPr>
            </a:pPr>
            <a:r>
              <a:t>• Certificate Revocation</a:t>
            </a:r>
          </a:p>
          <a:p>
            <a:pPr>
              <a:defRPr sz="1000">
                <a:solidFill>
                  <a:srgbClr val="334155"/>
                </a:solidFill>
              </a:defRPr>
            </a:pPr>
            <a:r>
              <a:t>   ~29,000 gas per revoked certificate (updating boolean flag &amp; emitting event).</a:t>
            </a:r>
          </a:p>
          <a:p>
            <a:pPr>
              <a:spcBef>
                <a:spcPts val="800"/>
              </a:spcBef>
              <a:defRPr sz="1100" b="1">
                <a:solidFill>
                  <a:srgbClr val="0F172A"/>
                </a:solidFill>
              </a:defRPr>
            </a:pPr>
            <a:r>
              <a:t>• Certificate Verification</a:t>
            </a:r>
          </a:p>
          <a:p>
            <a:pPr>
              <a:defRPr sz="1000">
                <a:solidFill>
                  <a:srgbClr val="334155"/>
                </a:solidFill>
              </a:defRPr>
            </a:pPr>
            <a:r>
              <a:t>   0 GAS! Executed as an off-chain eth_call view query against an RPC node.</a:t>
            </a:r>
          </a:p>
        </p:txBody>
      </p:sp>
      <p:sp>
        <p:nvSpPr>
          <p:cNvPr id="7" name="Rounded Rectangle 6"/>
          <p:cNvSpPr/>
          <p:nvPr/>
        </p:nvSpPr>
        <p:spPr>
          <a:xfrm>
            <a:off x="6217920" y="1508760"/>
            <a:ext cx="524225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400" b="1">
                <a:solidFill>
                  <a:srgbClr val="4F46E5"/>
                </a:solidFill>
              </a:defRPr>
            </a:pPr>
            <a:r>
              <a:t>🌐 Layer-2 Rollups &amp; Mass Batching</a:t>
            </a:r>
          </a:p>
        </p:txBody>
      </p:sp>
      <p:sp>
        <p:nvSpPr>
          <p:cNvPr id="8" name="Rounded Rectangle 7"/>
          <p:cNvSpPr/>
          <p:nvPr/>
        </p:nvSpPr>
        <p:spPr>
          <a:xfrm>
            <a:off x="6446520" y="2057400"/>
            <a:ext cx="4754880" cy="19202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50" b="1">
                <a:solidFill>
                  <a:srgbClr val="2563EB"/>
                </a:solidFill>
              </a:defRPr>
            </a:pPr>
            <a:r>
              <a:t>COST COMPARISON ACROSS NETWORKS</a:t>
            </a:r>
          </a:p>
          <a:p>
            <a:pPr>
              <a:spcBef>
                <a:spcPts val="400"/>
              </a:spcBef>
              <a:defRPr sz="950">
                <a:solidFill>
                  <a:srgbClr val="0F172A"/>
                </a:solidFill>
                <a:latin typeface="Consolas"/>
              </a:defRPr>
            </a:pPr>
            <a:r>
              <a:t>• Ethereum Mainnet: ~$3.50 - $15.00 / certificate (prohibitive)</a:t>
            </a:r>
            <a:br/>
            <a:r>
              <a:t>• Polygon PoS: ~$0.005 / certificate (99.9% cheaper)</a:t>
            </a:r>
            <a:br/>
            <a:r>
              <a:t>• Arbitrum / Base L2: ~$0.01 / certificate</a:t>
            </a:r>
            <a:br/>
            <a:r>
              <a:t>• Merkle Batch Tree: &lt;$0.0001 / certificate (10,000 in 1 tx)</a:t>
            </a:r>
          </a:p>
        </p:txBody>
      </p:sp>
      <p:sp>
        <p:nvSpPr>
          <p:cNvPr id="9" name="Rounded Rectangle 8"/>
          <p:cNvSpPr/>
          <p:nvPr/>
        </p:nvSpPr>
        <p:spPr>
          <a:xfrm>
            <a:off x="6446520" y="4160520"/>
            <a:ext cx="4754880" cy="192024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50" b="1">
                <a:solidFill>
                  <a:srgbClr val="065F46"/>
                </a:solidFill>
              </a:defRPr>
            </a:pPr>
            <a:r>
              <a:t>ENTERPRISE SCALING: MERKLE TREES</a:t>
            </a:r>
          </a:p>
          <a:p>
            <a:pPr>
              <a:spcBef>
                <a:spcPts val="400"/>
              </a:spcBef>
              <a:defRPr sz="950">
                <a:solidFill>
                  <a:srgbClr val="064E3B"/>
                </a:solidFill>
                <a:latin typeface="Consolas"/>
              </a:defRPr>
            </a:pPr>
            <a:r>
              <a:t>• University constructs cryptographic Merkle Tree of graduating cohort.</a:t>
            </a:r>
            <a:br/>
            <a:r>
              <a:t>• Only 32-byte Merkle Root is stored on-chain in 1 transaction.</a:t>
            </a:r>
            <a:br/>
            <a:r>
              <a:t>• Each graduate receives Merkle proof path (~500 bytes).</a:t>
            </a:r>
            <a:br/>
            <a:r>
              <a:t>• Verifier validates root in O(log N) operations with zero gas.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ACADEMIC PROJECT DEFENSE • BLOCKCHAIN VERIFICATION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Future Roadmap: Next-Generation Decentralized Credentials</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75504"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2563EB"/>
                </a:solidFill>
              </a:defRPr>
            </a:pPr>
            <a:r>
              <a:t>1. Soulbound Tokens (SBT - ERC-5192)</a:t>
            </a:r>
          </a:p>
          <a:p>
            <a:pPr>
              <a:spcBef>
                <a:spcPts val="200"/>
              </a:spcBef>
              <a:defRPr sz="1000" b="1">
                <a:solidFill>
                  <a:srgbClr val="64748B"/>
                </a:solidFill>
              </a:defRPr>
            </a:pPr>
            <a:r>
              <a:t>Non-Transferable Identity</a:t>
            </a:r>
          </a:p>
          <a:p>
            <a:pPr>
              <a:spcBef>
                <a:spcPts val="600"/>
              </a:spcBef>
              <a:defRPr sz="1050">
                <a:solidFill>
                  <a:srgbClr val="334155"/>
                </a:solidFill>
              </a:defRPr>
            </a:pPr>
            <a:r>
              <a:t>Bind certificates directly to a graduate's verified wallet address as non-transferable Soulbound NFTs, preventing credential sale or unauthorized loaning.</a:t>
            </a:r>
          </a:p>
        </p:txBody>
      </p:sp>
      <p:sp>
        <p:nvSpPr>
          <p:cNvPr id="7" name="Rounded Rectangle 6"/>
          <p:cNvSpPr/>
          <p:nvPr/>
        </p:nvSpPr>
        <p:spPr>
          <a:xfrm>
            <a:off x="6272783" y="1554480"/>
            <a:ext cx="5175504"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4F46E5"/>
                </a:solidFill>
              </a:defRPr>
            </a:pPr>
            <a:r>
              <a:t>2. W3C Verifiable Credentials &amp; DIDs</a:t>
            </a:r>
          </a:p>
          <a:p>
            <a:pPr>
              <a:spcBef>
                <a:spcPts val="200"/>
              </a:spcBef>
              <a:defRPr sz="1000" b="1">
                <a:solidFill>
                  <a:srgbClr val="64748B"/>
                </a:solidFill>
              </a:defRPr>
            </a:pPr>
            <a:r>
              <a:t>Global Academic Portability</a:t>
            </a:r>
          </a:p>
          <a:p>
            <a:pPr>
              <a:spcBef>
                <a:spcPts val="600"/>
              </a:spcBef>
              <a:defRPr sz="1050">
                <a:solidFill>
                  <a:srgbClr val="334155"/>
                </a:solidFill>
              </a:defRPr>
            </a:pPr>
            <a:r>
              <a:t>Implement W3C Decentralized Identifiers (DIDs) allowing credentials to be interoperable across international universities and digital identity wallets.</a:t>
            </a:r>
          </a:p>
        </p:txBody>
      </p:sp>
      <p:sp>
        <p:nvSpPr>
          <p:cNvPr id="8" name="Rounded Rectangle 7"/>
          <p:cNvSpPr/>
          <p:nvPr/>
        </p:nvSpPr>
        <p:spPr>
          <a:xfrm>
            <a:off x="731520" y="3977639"/>
            <a:ext cx="5175504"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10B981"/>
                </a:solidFill>
              </a:defRPr>
            </a:pPr>
            <a:r>
              <a:t>3. Decentralized Storage (IPFS / Filecoin)</a:t>
            </a:r>
          </a:p>
          <a:p>
            <a:pPr>
              <a:spcBef>
                <a:spcPts val="200"/>
              </a:spcBef>
              <a:defRPr sz="1000" b="1">
                <a:solidFill>
                  <a:srgbClr val="64748B"/>
                </a:solidFill>
              </a:defRPr>
            </a:pPr>
            <a:r>
              <a:t>Decentralized Document Persistence</a:t>
            </a:r>
          </a:p>
          <a:p>
            <a:pPr>
              <a:spcBef>
                <a:spcPts val="600"/>
              </a:spcBef>
              <a:defRPr sz="1050">
                <a:solidFill>
                  <a:srgbClr val="334155"/>
                </a:solidFill>
              </a:defRPr>
            </a:pPr>
            <a:r>
              <a:t>Store encrypted diploma PDFs on IPFS clusters with cryptographic Content Identifiers (CIDs), eliminating centralized web hosting dependency.</a:t>
            </a:r>
          </a:p>
        </p:txBody>
      </p:sp>
      <p:sp>
        <p:nvSpPr>
          <p:cNvPr id="9" name="Rounded Rectangle 8"/>
          <p:cNvSpPr/>
          <p:nvPr/>
        </p:nvSpPr>
        <p:spPr>
          <a:xfrm>
            <a:off x="6272783" y="3977639"/>
            <a:ext cx="5175504"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F59E0B"/>
                </a:solidFill>
              </a:defRPr>
            </a:pPr>
            <a:r>
              <a:t>4. Zero-Knowledge Proofs (zk-SNARKs)</a:t>
            </a:r>
          </a:p>
          <a:p>
            <a:pPr>
              <a:spcBef>
                <a:spcPts val="200"/>
              </a:spcBef>
              <a:defRPr sz="1000" b="1">
                <a:solidFill>
                  <a:srgbClr val="64748B"/>
                </a:solidFill>
              </a:defRPr>
            </a:pPr>
            <a:r>
              <a:t>Selective Attribute Disclosure</a:t>
            </a:r>
          </a:p>
          <a:p>
            <a:pPr>
              <a:spcBef>
                <a:spcPts val="600"/>
              </a:spcBef>
              <a:defRPr sz="1050">
                <a:solidFill>
                  <a:srgbClr val="334155"/>
                </a:solidFill>
              </a:defRPr>
            </a:pPr>
            <a:r>
              <a:t>Enable graduates to prove qualifications (e.g. 'GPA &gt; 3.5' or 'Degree from Top 10 University') without disclosing their exact transcript or grades.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none">
            <a:spAutoFit/>
          </a:bodyPr>
          <a:lstStyle/>
          <a:p>
            <a:pPr>
              <a:defRPr sz="1000" b="1">
                <a:solidFill>
                  <a:srgbClr val="60A5FA"/>
                </a:solidFill>
              </a:defRPr>
            </a:pPr>
            <a:r>
              <a:t>PROJECT SUMMARY &amp; TECHNICAL DEFENSE</a:t>
            </a:r>
          </a:p>
        </p:txBody>
      </p:sp>
      <p:sp>
        <p:nvSpPr>
          <p:cNvPr id="4" name="TextBox 3"/>
          <p:cNvSpPr txBox="1"/>
          <p:nvPr/>
        </p:nvSpPr>
        <p:spPr>
          <a:xfrm>
            <a:off x="731520" y="777240"/>
            <a:ext cx="10698480" cy="594360"/>
          </a:xfrm>
          <a:prstGeom prst="rect">
            <a:avLst/>
          </a:prstGeom>
          <a:noFill/>
        </p:spPr>
        <p:txBody>
          <a:bodyPr wrap="none">
            <a:spAutoFit/>
          </a:bodyPr>
          <a:lstStyle/>
          <a:p>
            <a:pPr>
              <a:defRPr sz="2400" b="1">
                <a:solidFill>
                  <a:srgbClr val="FFFFFF"/>
                </a:solidFill>
              </a:defRPr>
            </a:pPr>
            <a:r>
              <a:t>Conclusion: CertLedger Impact &amp; Takeaways</a:t>
            </a:r>
          </a:p>
        </p:txBody>
      </p:sp>
      <p:sp>
        <p:nvSpPr>
          <p:cNvPr id="5" name="Rounded Rectangle 4"/>
          <p:cNvSpPr/>
          <p:nvPr/>
        </p:nvSpPr>
        <p:spPr>
          <a:xfrm>
            <a:off x="731520" y="1645920"/>
            <a:ext cx="3401568" cy="3291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400" b="1">
                <a:solidFill>
                  <a:srgbClr val="60A5FA"/>
                </a:solidFill>
              </a:defRPr>
            </a:pPr>
            <a:r>
              <a:t>🎯 Objective Achieved</a:t>
            </a:r>
          </a:p>
          <a:p>
            <a:pPr>
              <a:spcBef>
                <a:spcPts val="600"/>
              </a:spcBef>
              <a:defRPr sz="1050">
                <a:solidFill>
                  <a:srgbClr val="E2E8F0"/>
                </a:solidFill>
              </a:defRPr>
            </a:pPr>
            <a:r>
              <a:t>✔ Eliminates academic diploma forgery.</a:t>
            </a:r>
          </a:p>
          <a:p>
            <a:pPr>
              <a:spcBef>
                <a:spcPts val="600"/>
              </a:spcBef>
              <a:defRPr sz="1050">
                <a:solidFill>
                  <a:srgbClr val="E2E8F0"/>
                </a:solidFill>
              </a:defRPr>
            </a:pPr>
            <a:r>
              <a:t>✔ Reduces background check time from weeks to &lt; 2 seconds.</a:t>
            </a:r>
          </a:p>
          <a:p>
            <a:pPr>
              <a:spcBef>
                <a:spcPts val="600"/>
              </a:spcBef>
              <a:defRPr sz="1050">
                <a:solidFill>
                  <a:srgbClr val="E2E8F0"/>
                </a:solidFill>
              </a:defRPr>
            </a:pPr>
            <a:r>
              <a:t>✔ Zero-gas cost for public verifiers.</a:t>
            </a:r>
          </a:p>
          <a:p>
            <a:pPr>
              <a:spcBef>
                <a:spcPts val="600"/>
              </a:spcBef>
              <a:defRPr sz="1050">
                <a:solidFill>
                  <a:srgbClr val="E2E8F0"/>
                </a:solidFill>
              </a:defRPr>
            </a:pPr>
            <a:r>
              <a:t>✔ Dynamic on-chain revocation mechanism.</a:t>
            </a:r>
          </a:p>
        </p:txBody>
      </p:sp>
      <p:sp>
        <p:nvSpPr>
          <p:cNvPr id="6" name="Rounded Rectangle 5"/>
          <p:cNvSpPr/>
          <p:nvPr/>
        </p:nvSpPr>
        <p:spPr>
          <a:xfrm>
            <a:off x="4389120" y="1645920"/>
            <a:ext cx="3401568" cy="3291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400" b="1">
                <a:solidFill>
                  <a:srgbClr val="10B981"/>
                </a:solidFill>
              </a:defRPr>
            </a:pPr>
            <a:r>
              <a:t>🛡️ Privacy Architecture</a:t>
            </a:r>
          </a:p>
          <a:p>
            <a:pPr>
              <a:spcBef>
                <a:spcPts val="600"/>
              </a:spcBef>
              <a:defRPr sz="1050">
                <a:solidFill>
                  <a:srgbClr val="E2E8F0"/>
                </a:solidFill>
              </a:defRPr>
            </a:pPr>
            <a:r>
              <a:t>✔ 100% Zero-PII on public blockchain ledger.</a:t>
            </a:r>
          </a:p>
          <a:p>
            <a:pPr>
              <a:spcBef>
                <a:spcPts val="600"/>
              </a:spcBef>
              <a:defRPr sz="1050">
                <a:solidFill>
                  <a:srgbClr val="E2E8F0"/>
                </a:solidFill>
              </a:defRPr>
            </a:pPr>
            <a:r>
              <a:t>✔ Fully compliant with GDPR Article 17 (Right to Erasure).</a:t>
            </a:r>
          </a:p>
          <a:p>
            <a:pPr>
              <a:spcBef>
                <a:spcPts val="600"/>
              </a:spcBef>
              <a:defRPr sz="1050">
                <a:solidFill>
                  <a:srgbClr val="E2E8F0"/>
                </a:solidFill>
              </a:defRPr>
            </a:pPr>
            <a:r>
              <a:t>✔ Strictly adheres to FERPA student educational privacy.</a:t>
            </a:r>
          </a:p>
          <a:p>
            <a:pPr>
              <a:spcBef>
                <a:spcPts val="600"/>
              </a:spcBef>
              <a:defRPr sz="1050">
                <a:solidFill>
                  <a:srgbClr val="E2E8F0"/>
                </a:solidFill>
              </a:defRPr>
            </a:pPr>
            <a:r>
              <a:t>✔ Cryptographically collision-resistant SHA-256 digests.</a:t>
            </a:r>
          </a:p>
        </p:txBody>
      </p:sp>
      <p:sp>
        <p:nvSpPr>
          <p:cNvPr id="7" name="Rounded Rectangle 6"/>
          <p:cNvSpPr/>
          <p:nvPr/>
        </p:nvSpPr>
        <p:spPr>
          <a:xfrm>
            <a:off x="8046720" y="1645920"/>
            <a:ext cx="3401568" cy="3291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400" b="1">
                <a:solidFill>
                  <a:srgbClr val="A78BFA"/>
                </a:solidFill>
              </a:defRPr>
            </a:pPr>
            <a:r>
              <a:t>⚡ Engineering Rigor</a:t>
            </a:r>
          </a:p>
          <a:p>
            <a:pPr>
              <a:spcBef>
                <a:spcPts val="600"/>
              </a:spcBef>
              <a:defRPr sz="1050">
                <a:solidFill>
                  <a:srgbClr val="E2E8F0"/>
                </a:solidFill>
              </a:defRPr>
            </a:pPr>
            <a:r>
              <a:t>✔ 17/17 Smart contract tests passing.</a:t>
            </a:r>
          </a:p>
          <a:p>
            <a:pPr>
              <a:spcBef>
                <a:spcPts val="600"/>
              </a:spcBef>
              <a:defRPr sz="1050">
                <a:solidFill>
                  <a:srgbClr val="E2E8F0"/>
                </a:solidFill>
              </a:defRPr>
            </a:pPr>
            <a:r>
              <a:t>✔ 12/12 Pytest backend tests passing.</a:t>
            </a:r>
          </a:p>
          <a:p>
            <a:pPr>
              <a:spcBef>
                <a:spcPts val="600"/>
              </a:spcBef>
              <a:defRPr sz="1050">
                <a:solidFill>
                  <a:srgbClr val="E2E8F0"/>
                </a:solidFill>
              </a:defRPr>
            </a:pPr>
            <a:r>
              <a:t>✔ 11-Stage automated E2E demo script verified on EVM.</a:t>
            </a:r>
          </a:p>
          <a:p>
            <a:pPr>
              <a:spcBef>
                <a:spcPts val="600"/>
              </a:spcBef>
              <a:defRPr sz="1050">
                <a:solidFill>
                  <a:srgbClr val="E2E8F0"/>
                </a:solidFill>
              </a:defRPr>
            </a:pPr>
            <a:r>
              <a:t>✔ Production-ready React 18 &amp; FastAPI integration.</a:t>
            </a:r>
          </a:p>
        </p:txBody>
      </p:sp>
      <p:sp>
        <p:nvSpPr>
          <p:cNvPr id="8" name="Rounded Rectangle 7"/>
          <p:cNvSpPr/>
          <p:nvPr/>
        </p:nvSpPr>
        <p:spPr>
          <a:xfrm>
            <a:off x="731520" y="5166360"/>
            <a:ext cx="10728655" cy="1188720"/>
          </a:xfrm>
          <a:prstGeom prst="roundRect">
            <a:avLst/>
          </a:prstGeom>
          <a:solidFill>
            <a:srgbClr val="1E293B"/>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lIns="228600" rIns="228600" tIns="137160"/>
          <a:lstStyle/>
          <a:p>
            <a:pPr algn="ctr">
              <a:defRPr sz="1300" b="1">
                <a:solidFill>
                  <a:srgbClr val="60A5FA"/>
                </a:solidFill>
              </a:defRPr>
            </a:pPr>
            <a:r>
              <a:t>🎓 Ready for Questions &amp; Viva Voce Technical Defense</a:t>
            </a:r>
          </a:p>
          <a:p>
            <a:pPr>
              <a:spcBef>
                <a:spcPts val="300"/>
              </a:spcBef>
              <a:defRPr sz="1050">
                <a:solidFill>
                  <a:srgbClr val="E2E8F0"/>
                </a:solidFill>
              </a:defRPr>
            </a:pPr>
            <a:r>
              <a:t>Prepared to demonstrate live certificate minting, tamper detection, on-chain revocation, and explain smart contract opcode execution &amp; cryptographic primitives.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